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大家好，我是破冰协议的创始人。今天我要介绍的不是又一个时间管理工具，而是一个解决更隐蔽痛点的产品——面向完美主义者的AI任务启动协议。</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你有没有过这种状态？脑子里已经推演了一百遍，但手上一个字没写。不是懒，是启动阈值太高了。传统效率工具误解了这个问题。我们的目标用户包括完美主义者、创作者、独立开发者、求职者和知识工作者。</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破冰协议的核心洞察是：不改变你的标准，只先制造一个能被标准加工的对象。六步强制工作流——启动契约、任务拆解、限时执行、上下文协助、改进循环和产出评价。</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三种产品形态。Agent Skill嵌入Claude Code和Codex，零部署。Web Demo完整协议流程，这是界面示意。CLI工具支持本地工作流。两个最亮的功能：三阶段计时器强制降低启动标准，产出质量评价诚实回答到底能不能发布。</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里必须讲清楚一个关键问题：本次拍卖的标的是什么？不是开源代码本身——代码是MIT开源的，任何人都可以fork。本次拍卖的是场景化使用授权加部署交付加模板定制加培训支持加后续迭代的完整商业化包。买了使用权，你可以按场景定制模板，独立品牌运营，获得部署方案和持续迭代支持。</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四个核心变现场景。高校课程和黑客松：按学生数订阅。求职训练营：按学员数收费。企业创新营：按企业授权。创作者社群：按会员数订阅。每个场景都有清晰的买方、痛点和变现路径。</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核心的区别：prompt只能给建议，破冰协议负责把人推到交付。买一个prompt只能复制语气风格，但买不到执行结构。破冰协议的壁垒是完整的六步闭环——什么时候逼开始、什么时候降粒度、什么时候允许改、什么时候阻止继续改。</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使用权最怕买完落不了地。交付清单明确：完整代码已上线、部署方案已配置、培训支持由创始人直接交付。拍卖标的不是代码，是已跑通可部署能赚钱的完整商业化包。</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以上就是破冰协议的介绍。我们不治愈完美主义，我们只逼你交出第一版。期待把破冰协议交到第一个使用权买家手里。谢谢大家，欢迎提问。</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2286000" y="762000"/>
            <a:ext cx="7620000" cy="3810000"/>
          </a:xfrm>
          <a:prstGeom prst="roundRect">
            <a:avLst>
              <a:gd name="adj" fmla="val 50000"/>
            </a:avLst>
          </a:prstGeom>
          <a:solidFill>
            <a:srgbClr val="3B82F6">
              <a:alpha val="8000"/>
            </a:srgbClr>
          </a:solidFill>
          <a:ln>
            <a:noFill/>
          </a:ln>
        </p:spPr>
      </p:sp>
      <p:sp>
        <p:nvSpPr>
          <p:cNvPr id="4" name="Rectangle 4"/>
          <p:cNvSpPr/>
          <p:nvPr/>
        </p:nvSpPr>
        <p:spPr>
          <a:xfrm>
            <a:off x="4191000" y="1714500"/>
            <a:ext cx="3810000" cy="28575"/>
          </a:xfrm>
          <a:prstGeom prst="rect">
            <a:avLst/>
          </a:prstGeom>
          <a:solidFill>
            <a:srgbClr val="3B82F6"/>
          </a:solidFill>
          <a:ln>
            <a:noFill/>
          </a:ln>
        </p:spPr>
      </p:sp>
      <p:sp>
        <p:nvSpPr>
          <p:cNvPr id="5" name="TextBox 5"/>
          <p:cNvSpPr txBox="1"/>
          <p:nvPr/>
        </p:nvSpPr>
        <p:spPr>
          <a:xfrm>
            <a:off x="4559141" y="2290762"/>
            <a:ext cx="3073718" cy="1066800"/>
          </a:xfrm>
          <a:prstGeom prst="rect">
            <a:avLst/>
          </a:prstGeom>
          <a:noFill/>
          <a:ln>
            <a:noFill/>
          </a:ln>
        </p:spPr>
        <p:txBody>
          <a:bodyPr wrap="none" lIns="0" tIns="0" rIns="0" bIns="0" anchor="t" anchorCtr="0">
            <a:spAutoFit/>
          </a:bodyPr>
          <a:lstStyle/>
          <a:p>
            <a:pPr algn="ctr"/>
            <a:r>
              <a:rPr lang="zh-CN" sz="5250" b="1" dirty="0">
                <a:solidFill>
                  <a:srgbClr val="E2E8F0"/>
                </a:solidFill>
                <a:latin typeface="Arial"/>
                <a:ea typeface="Microsoft YaHei"/>
                <a:cs typeface="Arial"/>
              </a:rPr>
              <a:t>破冰协议</a:t>
            </a:r>
          </a:p>
        </p:txBody>
      </p:sp>
      <p:sp>
        <p:nvSpPr>
          <p:cNvPr id="6" name="TextBox 6"/>
          <p:cNvSpPr txBox="1"/>
          <p:nvPr/>
        </p:nvSpPr>
        <p:spPr>
          <a:xfrm>
            <a:off x="4908994" y="3139440"/>
            <a:ext cx="2374011" cy="365760"/>
          </a:xfrm>
          <a:prstGeom prst="rect">
            <a:avLst/>
          </a:prstGeom>
          <a:noFill/>
          <a:ln>
            <a:noFill/>
          </a:ln>
        </p:spPr>
        <p:txBody>
          <a:bodyPr wrap="none" lIns="0" tIns="0" rIns="0" bIns="0" anchor="t" anchorCtr="0">
            <a:spAutoFit/>
          </a:bodyPr>
          <a:lstStyle/>
          <a:p>
            <a:pPr algn="ctr"/>
            <a:r>
              <a:rPr lang="zh-CN" sz="1800" dirty="0">
                <a:solidFill>
                  <a:srgbClr val="94A3B8"/>
                </a:solidFill>
                <a:latin typeface="Arial"/>
                <a:ea typeface="Microsoft YaHei"/>
                <a:cs typeface="Arial"/>
              </a:rPr>
              <a:t>Icebreaker Protocol</a:t>
            </a:r>
          </a:p>
        </p:txBody>
      </p:sp>
      <p:sp>
        <p:nvSpPr>
          <p:cNvPr id="7" name="TextBox 7"/>
          <p:cNvSpPr txBox="1"/>
          <p:nvPr/>
        </p:nvSpPr>
        <p:spPr>
          <a:xfrm>
            <a:off x="4375333" y="3822382"/>
            <a:ext cx="3441335" cy="335280"/>
          </a:xfrm>
          <a:prstGeom prst="rect">
            <a:avLst/>
          </a:prstGeom>
          <a:noFill/>
          <a:ln>
            <a:noFill/>
          </a:ln>
        </p:spPr>
        <p:txBody>
          <a:bodyPr wrap="none" lIns="0" tIns="0" rIns="0" bIns="0" anchor="t" anchorCtr="0">
            <a:spAutoFit/>
          </a:bodyPr>
          <a:lstStyle/>
          <a:p>
            <a:pPr algn="ctr"/>
            <a:r>
              <a:rPr lang="zh-CN" sz="1650" dirty="0">
                <a:solidFill>
                  <a:srgbClr val="E2E8F0"/>
                </a:solidFill>
                <a:latin typeface="Arial"/>
                <a:ea typeface="Microsoft YaHei"/>
                <a:cs typeface="Arial"/>
              </a:rPr>
              <a:t>面向完美主义者的 AI 任务启动协议</a:t>
            </a:r>
          </a:p>
        </p:txBody>
      </p:sp>
      <p:sp>
        <p:nvSpPr>
          <p:cNvPr id="8" name="Rectangle 8"/>
          <p:cNvSpPr/>
          <p:nvPr/>
        </p:nvSpPr>
        <p:spPr>
          <a:xfrm>
            <a:off x="4667250" y="4381500"/>
            <a:ext cx="2857500" cy="19050"/>
          </a:xfrm>
          <a:prstGeom prst="rect">
            <a:avLst/>
          </a:prstGeom>
          <a:solidFill>
            <a:srgbClr val="F59E0B"/>
          </a:solidFill>
          <a:ln>
            <a:noFill/>
          </a:ln>
        </p:spPr>
      </p:sp>
      <p:sp>
        <p:nvSpPr>
          <p:cNvPr id="9" name="TextBox 9"/>
          <p:cNvSpPr txBox="1"/>
          <p:nvPr/>
        </p:nvSpPr>
        <p:spPr>
          <a:xfrm>
            <a:off x="4900803" y="4600575"/>
            <a:ext cx="2390394" cy="304800"/>
          </a:xfrm>
          <a:prstGeom prst="rect">
            <a:avLst/>
          </a:prstGeom>
          <a:noFill/>
          <a:ln>
            <a:noFill/>
          </a:ln>
        </p:spPr>
        <p:txBody>
          <a:bodyPr wrap="none" lIns="0" tIns="0" rIns="0" bIns="0" anchor="t" anchorCtr="0">
            <a:spAutoFit/>
          </a:bodyPr>
          <a:lstStyle/>
          <a:p>
            <a:pPr algn="ctr"/>
            <a:r>
              <a:rPr lang="zh-CN" sz="1500" b="1" dirty="0">
                <a:solidFill>
                  <a:srgbClr val="F59E0B"/>
                </a:solidFill>
                <a:latin typeface="Arial"/>
                <a:ea typeface="Microsoft YaHei"/>
                <a:cs typeface="Arial"/>
              </a:rPr>
              <a:t>把"想太多"变成"做出来"</a:t>
            </a:r>
          </a:p>
        </p:txBody>
      </p:sp>
      <p:sp>
        <p:nvSpPr>
          <p:cNvPr id="10" name="TextBox 10"/>
          <p:cNvSpPr txBox="1"/>
          <p:nvPr/>
        </p:nvSpPr>
        <p:spPr>
          <a:xfrm>
            <a:off x="4949071" y="5593556"/>
            <a:ext cx="2293858" cy="228600"/>
          </a:xfrm>
          <a:prstGeom prst="rect">
            <a:avLst/>
          </a:prstGeom>
          <a:noFill/>
          <a:ln>
            <a:noFill/>
          </a:ln>
        </p:spPr>
        <p:txBody>
          <a:bodyPr wrap="none" lIns="0" tIns="0" rIns="0" bIns="0" anchor="t" anchorCtr="0">
            <a:spAutoFit/>
          </a:bodyPr>
          <a:lstStyle/>
          <a:p>
            <a:pPr algn="ctr"/>
            <a:r>
              <a:rPr lang="zh-CN" sz="1125" dirty="0">
                <a:solidFill>
                  <a:srgbClr val="64748B"/>
                </a:solidFill>
                <a:latin typeface="Arial"/>
                <a:ea typeface="Microsoft YaHei"/>
                <a:cs typeface="Arial"/>
              </a:rPr>
              <a:t>Agent Skill | Web Demo | CLI 工具</a:t>
            </a:r>
          </a:p>
        </p:txBody>
      </p:sp>
      <p:sp>
        <p:nvSpPr>
          <p:cNvPr id="11" name="TextBox 11"/>
          <p:cNvSpPr txBox="1"/>
          <p:nvPr/>
        </p:nvSpPr>
        <p:spPr>
          <a:xfrm>
            <a:off x="5828728" y="5918835"/>
            <a:ext cx="534543" cy="243840"/>
          </a:xfrm>
          <a:prstGeom prst="rect">
            <a:avLst/>
          </a:prstGeom>
          <a:noFill/>
          <a:ln>
            <a:noFill/>
          </a:ln>
        </p:spPr>
        <p:txBody>
          <a:bodyPr wrap="none" lIns="0" tIns="0" rIns="0" bIns="0" anchor="t" anchorCtr="0">
            <a:spAutoFit/>
          </a:bodyPr>
          <a:lstStyle/>
          <a:p>
            <a:pPr algn="ctr"/>
            <a:r>
              <a:rPr lang="zh-CN" sz="1200" b="1" dirty="0">
                <a:solidFill>
                  <a:srgbClr val="3B82F6"/>
                </a:solidFill>
                <a:latin typeface="Arial"/>
                <a:ea typeface="Microsoft YaHei"/>
                <a:cs typeface="Arial"/>
              </a:rPr>
              <a:t>乔瑞雪</a:t>
            </a:r>
          </a:p>
        </p:txBody>
      </p:sp>
      <p:sp>
        <p:nvSpPr>
          <p:cNvPr id="12" name="Rectangle 12"/>
          <p:cNvSpPr/>
          <p:nvPr/>
        </p:nvSpPr>
        <p:spPr>
          <a:xfrm>
            <a:off x="571500" y="571500"/>
            <a:ext cx="381000" cy="19050"/>
          </a:xfrm>
          <a:prstGeom prst="rect">
            <a:avLst/>
          </a:prstGeom>
          <a:solidFill>
            <a:srgbClr val="3B82F6">
              <a:alpha val="50000"/>
            </a:srgbClr>
          </a:solidFill>
          <a:ln>
            <a:noFill/>
          </a:ln>
        </p:spPr>
      </p:sp>
      <p:sp>
        <p:nvSpPr>
          <p:cNvPr id="13" name="Rectangle 13"/>
          <p:cNvSpPr/>
          <p:nvPr/>
        </p:nvSpPr>
        <p:spPr>
          <a:xfrm>
            <a:off x="571500" y="571500"/>
            <a:ext cx="19050" cy="381000"/>
          </a:xfrm>
          <a:prstGeom prst="rect">
            <a:avLst/>
          </a:prstGeom>
          <a:solidFill>
            <a:srgbClr val="3B82F6">
              <a:alpha val="50000"/>
            </a:srgbClr>
          </a:solidFill>
          <a:ln>
            <a:noFill/>
          </a:ln>
        </p:spPr>
      </p:sp>
      <p:sp>
        <p:nvSpPr>
          <p:cNvPr id="14" name="Rectangle 14"/>
          <p:cNvSpPr/>
          <p:nvPr/>
        </p:nvSpPr>
        <p:spPr>
          <a:xfrm>
            <a:off x="11239500" y="571500"/>
            <a:ext cx="381000" cy="19050"/>
          </a:xfrm>
          <a:prstGeom prst="rect">
            <a:avLst/>
          </a:prstGeom>
          <a:solidFill>
            <a:srgbClr val="3B82F6">
              <a:alpha val="50000"/>
            </a:srgbClr>
          </a:solidFill>
          <a:ln>
            <a:noFill/>
          </a:ln>
        </p:spPr>
      </p:sp>
      <p:sp>
        <p:nvSpPr>
          <p:cNvPr id="15" name="Rectangle 15"/>
          <p:cNvSpPr/>
          <p:nvPr/>
        </p:nvSpPr>
        <p:spPr>
          <a:xfrm>
            <a:off x="11601450" y="571500"/>
            <a:ext cx="19050" cy="381000"/>
          </a:xfrm>
          <a:prstGeom prst="rect">
            <a:avLst/>
          </a:prstGeom>
          <a:solidFill>
            <a:srgbClr val="3B82F6">
              <a:alpha val="50000"/>
            </a:srgbClr>
          </a:solidFill>
          <a:ln>
            <a:noFill/>
          </a:ln>
        </p:spPr>
      </p:sp>
      <p:sp>
        <p:nvSpPr>
          <p:cNvPr id="16" name="Rectangle 16"/>
          <p:cNvSpPr/>
          <p:nvPr/>
        </p:nvSpPr>
        <p:spPr>
          <a:xfrm>
            <a:off x="571500" y="6267450"/>
            <a:ext cx="381000" cy="19050"/>
          </a:xfrm>
          <a:prstGeom prst="rect">
            <a:avLst/>
          </a:prstGeom>
          <a:solidFill>
            <a:srgbClr val="3B82F6">
              <a:alpha val="50000"/>
            </a:srgbClr>
          </a:solidFill>
          <a:ln>
            <a:noFill/>
          </a:ln>
        </p:spPr>
      </p:sp>
      <p:sp>
        <p:nvSpPr>
          <p:cNvPr id="17" name="Rectangle 17"/>
          <p:cNvSpPr/>
          <p:nvPr/>
        </p:nvSpPr>
        <p:spPr>
          <a:xfrm>
            <a:off x="571500" y="5905500"/>
            <a:ext cx="19050" cy="381000"/>
          </a:xfrm>
          <a:prstGeom prst="rect">
            <a:avLst/>
          </a:prstGeom>
          <a:solidFill>
            <a:srgbClr val="3B82F6">
              <a:alpha val="50000"/>
            </a:srgbClr>
          </a:solidFill>
          <a:ln>
            <a:noFill/>
          </a:ln>
        </p:spPr>
      </p:sp>
      <p:sp>
        <p:nvSpPr>
          <p:cNvPr id="18" name="Rectangle 18"/>
          <p:cNvSpPr/>
          <p:nvPr/>
        </p:nvSpPr>
        <p:spPr>
          <a:xfrm>
            <a:off x="11239500" y="6267450"/>
            <a:ext cx="381000" cy="19050"/>
          </a:xfrm>
          <a:prstGeom prst="rect">
            <a:avLst/>
          </a:prstGeom>
          <a:solidFill>
            <a:srgbClr val="3B82F6">
              <a:alpha val="50000"/>
            </a:srgbClr>
          </a:solidFill>
          <a:ln>
            <a:noFill/>
          </a:ln>
        </p:spPr>
      </p:sp>
      <p:sp>
        <p:nvSpPr>
          <p:cNvPr id="19" name="Rectangle 19"/>
          <p:cNvSpPr/>
          <p:nvPr/>
        </p:nvSpPr>
        <p:spPr>
          <a:xfrm>
            <a:off x="11601450" y="5905500"/>
            <a:ext cx="19050" cy="381000"/>
          </a:xfrm>
          <a:prstGeom prst="rect">
            <a:avLst/>
          </a:prstGeom>
          <a:solidFill>
            <a:srgbClr val="3B82F6">
              <a:alpha val="50000"/>
            </a:srgbClr>
          </a:solidFill>
          <a:ln>
            <a:noFill/>
          </a:ln>
        </p:spPr>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57150" cy="6858000"/>
          </a:xfrm>
          <a:prstGeom prst="rect">
            <a:avLst/>
          </a:prstGeom>
          <a:solidFill>
            <a:srgbClr val="3B82F6"/>
          </a:solidFill>
          <a:ln>
            <a:noFill/>
          </a:ln>
        </p:spPr>
      </p:sp>
      <p:sp>
        <p:nvSpPr>
          <p:cNvPr id="4" name="TextBox 4"/>
          <p:cNvSpPr txBox="1"/>
          <p:nvPr/>
        </p:nvSpPr>
        <p:spPr>
          <a:xfrm>
            <a:off x="537210" y="232410"/>
            <a:ext cx="3092958" cy="548640"/>
          </a:xfrm>
          <a:prstGeom prst="rect">
            <a:avLst/>
          </a:prstGeom>
          <a:noFill/>
          <a:ln>
            <a:noFill/>
          </a:ln>
        </p:spPr>
        <p:txBody>
          <a:bodyPr wrap="none" lIns="0" tIns="0" rIns="0" bIns="0" anchor="t" anchorCtr="0">
            <a:spAutoFit/>
          </a:bodyPr>
          <a:lstStyle/>
          <a:p>
            <a:pPr algn="l"/>
            <a:r>
              <a:rPr lang="zh-CN" sz="2700" b="1" dirty="0">
                <a:solidFill>
                  <a:srgbClr val="E2E8F0"/>
                </a:solidFill>
                <a:latin typeface="Arial"/>
                <a:ea typeface="Microsoft YaHei"/>
                <a:cs typeface="Arial"/>
              </a:rPr>
              <a:t>完美主义者的困境</a:t>
            </a:r>
          </a:p>
        </p:txBody>
      </p:sp>
      <p:sp>
        <p:nvSpPr>
          <p:cNvPr id="5" name="Rectangle 5"/>
          <p:cNvSpPr/>
          <p:nvPr/>
        </p:nvSpPr>
        <p:spPr>
          <a:xfrm>
            <a:off x="571500" y="647700"/>
            <a:ext cx="2667000" cy="28575"/>
          </a:xfrm>
          <a:prstGeom prst="rect">
            <a:avLst/>
          </a:prstGeom>
          <a:solidFill>
            <a:srgbClr val="3B82F6"/>
          </a:solidFill>
          <a:ln>
            <a:noFill/>
          </a:ln>
        </p:spPr>
      </p:sp>
      <p:sp>
        <p:nvSpPr>
          <p:cNvPr id="6" name="Rectangle 6"/>
          <p:cNvSpPr/>
          <p:nvPr/>
        </p:nvSpPr>
        <p:spPr>
          <a:xfrm>
            <a:off x="571500" y="1047750"/>
            <a:ext cx="4572000" cy="1905000"/>
          </a:xfrm>
          <a:prstGeom prst="roundRect">
            <a:avLst>
              <a:gd name="adj" fmla="val 6000"/>
            </a:avLst>
          </a:prstGeom>
          <a:solidFill>
            <a:srgbClr val="151B2D"/>
          </a:solidFill>
          <a:ln w="9525">
            <a:solidFill>
              <a:srgbClr val="1E293B"/>
            </a:solidFill>
          </a:ln>
        </p:spPr>
      </p:sp>
      <p:sp>
        <p:nvSpPr>
          <p:cNvPr id="7" name="TextBox 7"/>
          <p:cNvSpPr txBox="1"/>
          <p:nvPr/>
        </p:nvSpPr>
        <p:spPr>
          <a:xfrm>
            <a:off x="836295" y="1298258"/>
            <a:ext cx="966026" cy="335280"/>
          </a:xfrm>
          <a:prstGeom prst="rect">
            <a:avLst/>
          </a:prstGeom>
          <a:noFill/>
          <a:ln>
            <a:noFill/>
          </a:ln>
        </p:spPr>
        <p:txBody>
          <a:bodyPr wrap="none" lIns="0" tIns="0" rIns="0" bIns="0" anchor="t" anchorCtr="0">
            <a:spAutoFit/>
          </a:bodyPr>
          <a:lstStyle/>
          <a:p>
            <a:pPr algn="l"/>
            <a:r>
              <a:rPr lang="zh-CN" sz="1650" b="1" dirty="0">
                <a:solidFill>
                  <a:srgbClr val="F59E0B"/>
                </a:solidFill>
                <a:latin typeface="Arial"/>
                <a:ea typeface="Microsoft YaHei"/>
                <a:cs typeface="Arial"/>
              </a:rPr>
              <a:t>核心问题</a:t>
            </a:r>
          </a:p>
        </p:txBody>
      </p:sp>
      <p:sp>
        <p:nvSpPr>
          <p:cNvPr id="8" name="TextBox 8"/>
          <p:cNvSpPr txBox="1"/>
          <p:nvPr/>
        </p:nvSpPr>
        <p:spPr>
          <a:xfrm>
            <a:off x="840105" y="1711642"/>
            <a:ext cx="1654492" cy="274320"/>
          </a:xfrm>
          <a:prstGeom prst="rect">
            <a:avLst/>
          </a:prstGeom>
          <a:noFill/>
          <a:ln>
            <a:noFill/>
          </a:ln>
        </p:spPr>
        <p:txBody>
          <a:bodyPr wrap="none" lIns="0" tIns="0" rIns="0" bIns="0" anchor="t" anchorCtr="0">
            <a:spAutoFit/>
          </a:bodyPr>
          <a:lstStyle/>
          <a:p>
            <a:pPr algn="l"/>
            <a:r>
              <a:rPr lang="zh-CN" sz="1350" dirty="0">
                <a:solidFill>
                  <a:srgbClr val="E2E8F0"/>
                </a:solidFill>
                <a:latin typeface="Arial"/>
                <a:ea typeface="Microsoft YaHei"/>
                <a:cs typeface="Arial"/>
              </a:rPr>
              <a:t>脑子里推演了一百遍</a:t>
            </a:r>
          </a:p>
        </p:txBody>
      </p:sp>
      <p:sp>
        <p:nvSpPr>
          <p:cNvPr id="9" name="TextBox 9"/>
          <p:cNvSpPr txBox="1"/>
          <p:nvPr/>
        </p:nvSpPr>
        <p:spPr>
          <a:xfrm>
            <a:off x="840105" y="1997392"/>
            <a:ext cx="1294448" cy="274320"/>
          </a:xfrm>
          <a:prstGeom prst="rect">
            <a:avLst/>
          </a:prstGeom>
          <a:noFill/>
          <a:ln>
            <a:noFill/>
          </a:ln>
        </p:spPr>
        <p:txBody>
          <a:bodyPr wrap="none" lIns="0" tIns="0" rIns="0" bIns="0" anchor="t" anchorCtr="0">
            <a:spAutoFit/>
          </a:bodyPr>
          <a:lstStyle/>
          <a:p>
            <a:pPr algn="l"/>
            <a:r>
              <a:rPr lang="zh-CN" sz="1350" dirty="0">
                <a:solidFill>
                  <a:srgbClr val="E2E8F0"/>
                </a:solidFill>
                <a:latin typeface="Arial"/>
                <a:ea typeface="Microsoft YaHei"/>
                <a:cs typeface="Arial"/>
              </a:rPr>
              <a:t>手上一个字没写</a:t>
            </a:r>
          </a:p>
        </p:txBody>
      </p:sp>
      <p:sp>
        <p:nvSpPr>
          <p:cNvPr id="10" name="TextBox 10"/>
          <p:cNvSpPr txBox="1"/>
          <p:nvPr/>
        </p:nvSpPr>
        <p:spPr>
          <a:xfrm>
            <a:off x="842962" y="2402681"/>
            <a:ext cx="1678781"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不是懒，是启动阈值太高</a:t>
            </a:r>
          </a:p>
        </p:txBody>
      </p:sp>
      <p:sp>
        <p:nvSpPr>
          <p:cNvPr id="11" name="Rectangle 11"/>
          <p:cNvSpPr/>
          <p:nvPr/>
        </p:nvSpPr>
        <p:spPr>
          <a:xfrm>
            <a:off x="5429250" y="1047750"/>
            <a:ext cx="6191250" cy="1333500"/>
          </a:xfrm>
          <a:prstGeom prst="roundRect">
            <a:avLst>
              <a:gd name="adj" fmla="val 8571"/>
            </a:avLst>
          </a:prstGeom>
          <a:solidFill>
            <a:srgbClr val="151B2D"/>
          </a:solidFill>
          <a:ln w="9525">
            <a:solidFill>
              <a:srgbClr val="1E293B"/>
            </a:solidFill>
          </a:ln>
        </p:spPr>
      </p:sp>
      <p:sp>
        <p:nvSpPr>
          <p:cNvPr id="12" name="TextBox 12"/>
          <p:cNvSpPr txBox="1"/>
          <p:nvPr/>
        </p:nvSpPr>
        <p:spPr>
          <a:xfrm>
            <a:off x="5697855" y="1283018"/>
            <a:ext cx="1735503" cy="274320"/>
          </a:xfrm>
          <a:prstGeom prst="rect">
            <a:avLst/>
          </a:prstGeom>
          <a:noFill/>
          <a:ln>
            <a:noFill/>
          </a:ln>
        </p:spPr>
        <p:txBody>
          <a:bodyPr wrap="none" lIns="0" tIns="0" rIns="0" bIns="0" anchor="t" anchorCtr="0">
            <a:spAutoFit/>
          </a:bodyPr>
          <a:lstStyle/>
          <a:p>
            <a:pPr algn="l"/>
            <a:r>
              <a:rPr lang="zh-CN" sz="1350" b="1" dirty="0">
                <a:solidFill>
                  <a:srgbClr val="EF4444"/>
                </a:solidFill>
                <a:latin typeface="Arial"/>
                <a:ea typeface="Microsoft YaHei"/>
                <a:cs typeface="Arial"/>
              </a:rPr>
              <a:t>传统工具误解了问题</a:t>
            </a:r>
          </a:p>
        </p:txBody>
      </p:sp>
      <p:sp>
        <p:nvSpPr>
          <p:cNvPr id="13" name="TextBox 13"/>
          <p:cNvSpPr txBox="1"/>
          <p:nvPr/>
        </p:nvSpPr>
        <p:spPr>
          <a:xfrm>
            <a:off x="5699760" y="1632585"/>
            <a:ext cx="2462784" cy="243840"/>
          </a:xfrm>
          <a:prstGeom prst="rect">
            <a:avLst/>
          </a:prstGeom>
          <a:noFill/>
          <a:ln>
            <a:noFill/>
          </a:ln>
        </p:spPr>
        <p:txBody>
          <a:bodyPr wrap="none" lIns="0" tIns="0" rIns="0" bIns="0" anchor="t" anchorCtr="0">
            <a:spAutoFit/>
          </a:bodyPr>
          <a:lstStyle/>
          <a:p>
            <a:pPr algn="l"/>
            <a:r>
              <a:rPr lang="zh-CN" sz="1200" dirty="0">
                <a:solidFill>
                  <a:srgbClr val="E2E8F0"/>
                </a:solidFill>
                <a:latin typeface="Arial"/>
                <a:ea typeface="Microsoft YaHei"/>
                <a:cs typeface="Arial"/>
              </a:rPr>
              <a:t>以为是"时间管理"或"专注力管理"</a:t>
            </a:r>
          </a:p>
        </p:txBody>
      </p:sp>
      <p:sp>
        <p:nvSpPr>
          <p:cNvPr id="14" name="TextBox 14"/>
          <p:cNvSpPr txBox="1"/>
          <p:nvPr/>
        </p:nvSpPr>
        <p:spPr>
          <a:xfrm>
            <a:off x="5699760" y="1870710"/>
            <a:ext cx="3710940" cy="243840"/>
          </a:xfrm>
          <a:prstGeom prst="rect">
            <a:avLst/>
          </a:prstGeom>
          <a:noFill/>
          <a:ln>
            <a:noFill/>
          </a:ln>
        </p:spPr>
        <p:txBody>
          <a:bodyPr wrap="none" lIns="0" tIns="0" rIns="0" bIns="0" anchor="t" anchorCtr="0">
            <a:spAutoFit/>
          </a:bodyPr>
          <a:lstStyle/>
          <a:p>
            <a:pPr algn="l"/>
            <a:r>
              <a:rPr lang="zh-CN" sz="1200" dirty="0">
                <a:solidFill>
                  <a:srgbClr val="E2E8F0"/>
                </a:solidFill>
                <a:latin typeface="Arial"/>
                <a:ea typeface="Microsoft YaHei"/>
                <a:cs typeface="Arial"/>
              </a:rPr>
              <a:t>实则需要的是：从心理安全区跨到可见产出的那一下</a:t>
            </a:r>
          </a:p>
        </p:txBody>
      </p:sp>
      <p:sp>
        <p:nvSpPr>
          <p:cNvPr id="15" name="Rectangle 15"/>
          <p:cNvSpPr/>
          <p:nvPr/>
        </p:nvSpPr>
        <p:spPr>
          <a:xfrm>
            <a:off x="5429250" y="2571750"/>
            <a:ext cx="6191250" cy="3333750"/>
          </a:xfrm>
          <a:prstGeom prst="roundRect">
            <a:avLst>
              <a:gd name="adj" fmla="val 3429"/>
            </a:avLst>
          </a:prstGeom>
          <a:solidFill>
            <a:srgbClr val="151B2D"/>
          </a:solidFill>
          <a:ln w="9525">
            <a:solidFill>
              <a:srgbClr val="1E293B"/>
            </a:solidFill>
          </a:ln>
        </p:spPr>
      </p:sp>
      <p:sp>
        <p:nvSpPr>
          <p:cNvPr id="16" name="TextBox 16"/>
          <p:cNvSpPr txBox="1"/>
          <p:nvPr/>
        </p:nvSpPr>
        <p:spPr>
          <a:xfrm>
            <a:off x="5695950" y="2790825"/>
            <a:ext cx="878205" cy="304800"/>
          </a:xfrm>
          <a:prstGeom prst="rect">
            <a:avLst/>
          </a:prstGeom>
          <a:noFill/>
          <a:ln>
            <a:noFill/>
          </a:ln>
        </p:spPr>
        <p:txBody>
          <a:bodyPr wrap="none" lIns="0" tIns="0" rIns="0" bIns="0" anchor="t" anchorCtr="0">
            <a:spAutoFit/>
          </a:bodyPr>
          <a:lstStyle/>
          <a:p>
            <a:pPr algn="l"/>
            <a:r>
              <a:rPr lang="zh-CN" sz="1500" b="1" dirty="0">
                <a:solidFill>
                  <a:srgbClr val="E2E8F0"/>
                </a:solidFill>
                <a:latin typeface="Arial"/>
                <a:ea typeface="Microsoft YaHei"/>
                <a:cs typeface="Arial"/>
              </a:rPr>
              <a:t>目标用户</a:t>
            </a:r>
          </a:p>
        </p:txBody>
      </p:sp>
      <p:sp>
        <p:nvSpPr>
          <p:cNvPr id="17" name="TextBox 17"/>
          <p:cNvSpPr txBox="1"/>
          <p:nvPr/>
        </p:nvSpPr>
        <p:spPr>
          <a:xfrm>
            <a:off x="5699760" y="3251835"/>
            <a:ext cx="3206877" cy="243840"/>
          </a:xfrm>
          <a:prstGeom prst="rect">
            <a:avLst/>
          </a:prstGeom>
          <a:noFill/>
          <a:ln>
            <a:noFill/>
          </a:ln>
        </p:spPr>
        <p:txBody>
          <a:bodyPr wrap="none" lIns="0" tIns="0" rIns="0" bIns="0" anchor="t" anchorCtr="0">
            <a:spAutoFit/>
          </a:bodyPr>
          <a:lstStyle/>
          <a:p>
            <a:pPr algn="l"/>
            <a:r>
              <a:rPr lang="zh-CN" sz="1200" dirty="0">
                <a:solidFill>
                  <a:srgbClr val="E2E8F0"/>
                </a:solidFill>
                <a:latin typeface="Arial"/>
                <a:ea typeface="Microsoft YaHei"/>
                <a:cs typeface="Arial"/>
              </a:rPr>
              <a:t>• 完美主义者：不缺标准，缺可修改的第一版</a:t>
            </a:r>
          </a:p>
        </p:txBody>
      </p:sp>
      <p:sp>
        <p:nvSpPr>
          <p:cNvPr id="18" name="TextBox 18"/>
          <p:cNvSpPr txBox="1"/>
          <p:nvPr/>
        </p:nvSpPr>
        <p:spPr>
          <a:xfrm>
            <a:off x="5699760" y="3556635"/>
            <a:ext cx="3206877" cy="243840"/>
          </a:xfrm>
          <a:prstGeom prst="rect">
            <a:avLst/>
          </a:prstGeom>
          <a:noFill/>
          <a:ln>
            <a:noFill/>
          </a:ln>
        </p:spPr>
        <p:txBody>
          <a:bodyPr wrap="none" lIns="0" tIns="0" rIns="0" bIns="0" anchor="t" anchorCtr="0">
            <a:spAutoFit/>
          </a:bodyPr>
          <a:lstStyle/>
          <a:p>
            <a:pPr algn="l"/>
            <a:r>
              <a:rPr lang="zh-CN" sz="1200" dirty="0">
                <a:solidFill>
                  <a:srgbClr val="E2E8F0"/>
                </a:solidFill>
                <a:latin typeface="Arial"/>
                <a:ea typeface="Microsoft YaHei"/>
                <a:cs typeface="Arial"/>
              </a:rPr>
              <a:t>• 创作者：选题、开头、初稿最容易陷入空转</a:t>
            </a:r>
          </a:p>
        </p:txBody>
      </p:sp>
      <p:sp>
        <p:nvSpPr>
          <p:cNvPr id="19" name="TextBox 19"/>
          <p:cNvSpPr txBox="1"/>
          <p:nvPr/>
        </p:nvSpPr>
        <p:spPr>
          <a:xfrm>
            <a:off x="5699760" y="3861435"/>
            <a:ext cx="3046857" cy="243840"/>
          </a:xfrm>
          <a:prstGeom prst="rect">
            <a:avLst/>
          </a:prstGeom>
          <a:noFill/>
          <a:ln>
            <a:noFill/>
          </a:ln>
        </p:spPr>
        <p:txBody>
          <a:bodyPr wrap="none" lIns="0" tIns="0" rIns="0" bIns="0" anchor="t" anchorCtr="0">
            <a:spAutoFit/>
          </a:bodyPr>
          <a:lstStyle/>
          <a:p>
            <a:pPr algn="l"/>
            <a:r>
              <a:rPr lang="zh-CN" sz="1200" dirty="0">
                <a:solidFill>
                  <a:srgbClr val="E2E8F0"/>
                </a:solidFill>
                <a:latin typeface="Arial"/>
                <a:ea typeface="Microsoft YaHei"/>
                <a:cs typeface="Arial"/>
              </a:rPr>
              <a:t>• 独立开发者：技术选型、架构前反复打转</a:t>
            </a:r>
          </a:p>
        </p:txBody>
      </p:sp>
      <p:sp>
        <p:nvSpPr>
          <p:cNvPr id="20" name="TextBox 20"/>
          <p:cNvSpPr txBox="1"/>
          <p:nvPr/>
        </p:nvSpPr>
        <p:spPr>
          <a:xfrm>
            <a:off x="5699760" y="4166235"/>
            <a:ext cx="2566797" cy="243840"/>
          </a:xfrm>
          <a:prstGeom prst="rect">
            <a:avLst/>
          </a:prstGeom>
          <a:noFill/>
          <a:ln>
            <a:noFill/>
          </a:ln>
        </p:spPr>
        <p:txBody>
          <a:bodyPr wrap="none" lIns="0" tIns="0" rIns="0" bIns="0" anchor="t" anchorCtr="0">
            <a:spAutoFit/>
          </a:bodyPr>
          <a:lstStyle/>
          <a:p>
            <a:pPr algn="l"/>
            <a:r>
              <a:rPr lang="zh-CN" sz="1200" dirty="0">
                <a:solidFill>
                  <a:srgbClr val="E2E8F0"/>
                </a:solidFill>
                <a:latin typeface="Arial"/>
                <a:ea typeface="Microsoft YaHei"/>
                <a:cs typeface="Arial"/>
              </a:rPr>
              <a:t>• 求职者：简历反复想改但迟迟不发</a:t>
            </a:r>
          </a:p>
        </p:txBody>
      </p:sp>
      <p:sp>
        <p:nvSpPr>
          <p:cNvPr id="21" name="TextBox 21"/>
          <p:cNvSpPr txBox="1"/>
          <p:nvPr/>
        </p:nvSpPr>
        <p:spPr>
          <a:xfrm>
            <a:off x="5699760" y="4471035"/>
            <a:ext cx="2726817" cy="243840"/>
          </a:xfrm>
          <a:prstGeom prst="rect">
            <a:avLst/>
          </a:prstGeom>
          <a:noFill/>
          <a:ln>
            <a:noFill/>
          </a:ln>
        </p:spPr>
        <p:txBody>
          <a:bodyPr wrap="none" lIns="0" tIns="0" rIns="0" bIns="0" anchor="t" anchorCtr="0">
            <a:spAutoFit/>
          </a:bodyPr>
          <a:lstStyle/>
          <a:p>
            <a:pPr algn="l"/>
            <a:r>
              <a:rPr lang="zh-CN" sz="1200" dirty="0">
                <a:solidFill>
                  <a:srgbClr val="E2E8F0"/>
                </a:solidFill>
                <a:latin typeface="Arial"/>
                <a:ea typeface="Microsoft YaHei"/>
                <a:cs typeface="Arial"/>
              </a:rPr>
              <a:t>• 高敏感知识工作者：害怕暴露半成品</a:t>
            </a:r>
          </a:p>
        </p:txBody>
      </p:sp>
      <p:sp>
        <p:nvSpPr>
          <p:cNvPr id="22" name="TextBox 22"/>
          <p:cNvSpPr txBox="1"/>
          <p:nvPr/>
        </p:nvSpPr>
        <p:spPr>
          <a:xfrm>
            <a:off x="11016520" y="6570345"/>
            <a:ext cx="424910" cy="182880"/>
          </a:xfrm>
          <a:prstGeom prst="rect">
            <a:avLst/>
          </a:prstGeom>
          <a:noFill/>
          <a:ln>
            <a:noFill/>
          </a:ln>
        </p:spPr>
        <p:txBody>
          <a:bodyPr wrap="none" lIns="0" tIns="0" rIns="0" bIns="0" anchor="t" anchorCtr="0">
            <a:spAutoFit/>
          </a:bodyPr>
          <a:lstStyle/>
          <a:p>
            <a:pPr algn="r"/>
            <a:r>
              <a:rPr lang="zh-CN" sz="900" dirty="0">
                <a:solidFill>
                  <a:srgbClr val="64748B"/>
                </a:solidFill>
                <a:latin typeface="Arial"/>
                <a:ea typeface="Microsoft YaHei"/>
                <a:cs typeface="Arial"/>
              </a:rPr>
              <a:t>02 / 09</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57150" cy="6858000"/>
          </a:xfrm>
          <a:prstGeom prst="rect">
            <a:avLst/>
          </a:prstGeom>
          <a:solidFill>
            <a:srgbClr val="3B82F6"/>
          </a:solidFill>
          <a:ln>
            <a:noFill/>
          </a:ln>
        </p:spPr>
      </p:sp>
      <p:sp>
        <p:nvSpPr>
          <p:cNvPr id="4" name="TextBox 4"/>
          <p:cNvSpPr txBox="1"/>
          <p:nvPr/>
        </p:nvSpPr>
        <p:spPr>
          <a:xfrm>
            <a:off x="537210" y="232410"/>
            <a:ext cx="3905760" cy="548640"/>
          </a:xfrm>
          <a:prstGeom prst="rect">
            <a:avLst/>
          </a:prstGeom>
          <a:noFill/>
          <a:ln>
            <a:noFill/>
          </a:ln>
        </p:spPr>
        <p:txBody>
          <a:bodyPr wrap="none" lIns="0" tIns="0" rIns="0" bIns="0" anchor="t" anchorCtr="0">
            <a:spAutoFit/>
          </a:bodyPr>
          <a:lstStyle/>
          <a:p>
            <a:pPr algn="l"/>
            <a:r>
              <a:rPr lang="zh-CN" sz="2700" b="1" dirty="0">
                <a:solidFill>
                  <a:srgbClr val="E2E8F0"/>
                </a:solidFill>
                <a:latin typeface="Arial"/>
                <a:ea typeface="Microsoft YaHei"/>
                <a:cs typeface="Arial"/>
              </a:rPr>
              <a:t>协议机制 — 为什么有效</a:t>
            </a:r>
          </a:p>
        </p:txBody>
      </p:sp>
      <p:sp>
        <p:nvSpPr>
          <p:cNvPr id="5" name="Rectangle 5"/>
          <p:cNvSpPr/>
          <p:nvPr/>
        </p:nvSpPr>
        <p:spPr>
          <a:xfrm>
            <a:off x="571500" y="647700"/>
            <a:ext cx="4000500" cy="28575"/>
          </a:xfrm>
          <a:prstGeom prst="rect">
            <a:avLst/>
          </a:prstGeom>
          <a:solidFill>
            <a:srgbClr val="3B82F6"/>
          </a:solidFill>
          <a:ln>
            <a:noFill/>
          </a:ln>
        </p:spPr>
      </p:sp>
      <p:sp>
        <p:nvSpPr>
          <p:cNvPr id="6" name="TextBox 6"/>
          <p:cNvSpPr txBox="1"/>
          <p:nvPr/>
        </p:nvSpPr>
        <p:spPr>
          <a:xfrm>
            <a:off x="556260" y="822960"/>
            <a:ext cx="3710940"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不改变你的标准，只先制造一个能被标准加工的对象</a:t>
            </a:r>
          </a:p>
        </p:txBody>
      </p:sp>
      <p:sp>
        <p:nvSpPr>
          <p:cNvPr id="7" name="Rectangle 7"/>
          <p:cNvSpPr/>
          <p:nvPr/>
        </p:nvSpPr>
        <p:spPr>
          <a:xfrm>
            <a:off x="571500" y="1238250"/>
            <a:ext cx="3429000" cy="1428750"/>
          </a:xfrm>
          <a:prstGeom prst="roundRect">
            <a:avLst>
              <a:gd name="adj" fmla="val 8000"/>
            </a:avLst>
          </a:prstGeom>
          <a:solidFill>
            <a:srgbClr val="151B2D"/>
          </a:solidFill>
          <a:ln w="9525">
            <a:solidFill>
              <a:srgbClr val="1E293B"/>
            </a:solidFill>
          </a:ln>
        </p:spPr>
      </p:sp>
      <p:sp>
        <p:nvSpPr>
          <p:cNvPr id="8" name="Rectangle 8"/>
          <p:cNvSpPr/>
          <p:nvPr/>
        </p:nvSpPr>
        <p:spPr>
          <a:xfrm>
            <a:off x="571500" y="1238250"/>
            <a:ext cx="57150" cy="1428750"/>
          </a:xfrm>
          <a:prstGeom prst="roundRect">
            <a:avLst>
              <a:gd name="adj" fmla="val 50000"/>
            </a:avLst>
          </a:prstGeom>
          <a:solidFill>
            <a:srgbClr val="3B82F6"/>
          </a:solidFill>
          <a:ln>
            <a:noFill/>
          </a:ln>
        </p:spPr>
      </p:sp>
      <p:sp>
        <p:nvSpPr>
          <p:cNvPr id="9" name="TextBox 9"/>
          <p:cNvSpPr txBox="1"/>
          <p:nvPr/>
        </p:nvSpPr>
        <p:spPr>
          <a:xfrm>
            <a:off x="792480" y="1425892"/>
            <a:ext cx="194960" cy="274320"/>
          </a:xfrm>
          <a:prstGeom prst="rect">
            <a:avLst/>
          </a:prstGeom>
          <a:noFill/>
          <a:ln>
            <a:noFill/>
          </a:ln>
        </p:spPr>
        <p:txBody>
          <a:bodyPr wrap="none" lIns="0" tIns="0" rIns="0" bIns="0" anchor="t" anchorCtr="0">
            <a:spAutoFit/>
          </a:bodyPr>
          <a:lstStyle/>
          <a:p>
            <a:pPr algn="l"/>
            <a:r>
              <a:rPr lang="zh-CN" sz="1350" b="1" dirty="0">
                <a:solidFill>
                  <a:srgbClr val="3B82F6"/>
                </a:solidFill>
                <a:latin typeface="Arial"/>
                <a:ea typeface="Microsoft YaHei"/>
                <a:cs typeface="Arial"/>
              </a:rPr>
              <a:t>01</a:t>
            </a:r>
          </a:p>
        </p:txBody>
      </p:sp>
      <p:sp>
        <p:nvSpPr>
          <p:cNvPr id="10" name="TextBox 10"/>
          <p:cNvSpPr txBox="1"/>
          <p:nvPr/>
        </p:nvSpPr>
        <p:spPr>
          <a:xfrm>
            <a:off x="1173480" y="1425892"/>
            <a:ext cx="790384" cy="274320"/>
          </a:xfrm>
          <a:prstGeom prst="rect">
            <a:avLst/>
          </a:prstGeom>
          <a:noFill/>
          <a:ln>
            <a:noFill/>
          </a:ln>
        </p:spPr>
        <p:txBody>
          <a:bodyPr wrap="none" lIns="0" tIns="0" rIns="0" bIns="0" anchor="t" anchorCtr="0">
            <a:spAutoFit/>
          </a:bodyPr>
          <a:lstStyle/>
          <a:p>
            <a:pPr algn="l"/>
            <a:r>
              <a:rPr lang="zh-CN" sz="1350" b="1" dirty="0">
                <a:solidFill>
                  <a:srgbClr val="E2E8F0"/>
                </a:solidFill>
                <a:latin typeface="Arial"/>
                <a:ea typeface="Microsoft YaHei"/>
                <a:cs typeface="Arial"/>
              </a:rPr>
              <a:t>启动契约</a:t>
            </a:r>
          </a:p>
        </p:txBody>
      </p:sp>
      <p:sp>
        <p:nvSpPr>
          <p:cNvPr id="11" name="TextBox 11"/>
          <p:cNvSpPr txBox="1"/>
          <p:nvPr/>
        </p:nvSpPr>
        <p:spPr>
          <a:xfrm>
            <a:off x="795338" y="1783556"/>
            <a:ext cx="1093708"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把"做好"改写成</a:t>
            </a:r>
          </a:p>
        </p:txBody>
      </p:sp>
      <p:sp>
        <p:nvSpPr>
          <p:cNvPr id="12" name="TextBox 12"/>
          <p:cNvSpPr txBox="1"/>
          <p:nvPr/>
        </p:nvSpPr>
        <p:spPr>
          <a:xfrm>
            <a:off x="795338" y="2021681"/>
            <a:ext cx="1243727"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"先做出可改对象"</a:t>
            </a:r>
          </a:p>
        </p:txBody>
      </p:sp>
      <p:sp>
        <p:nvSpPr>
          <p:cNvPr id="13" name="Rectangle 13"/>
          <p:cNvSpPr/>
          <p:nvPr/>
        </p:nvSpPr>
        <p:spPr>
          <a:xfrm>
            <a:off x="4381500" y="1238250"/>
            <a:ext cx="3429000" cy="1428750"/>
          </a:xfrm>
          <a:prstGeom prst="roundRect">
            <a:avLst>
              <a:gd name="adj" fmla="val 8000"/>
            </a:avLst>
          </a:prstGeom>
          <a:solidFill>
            <a:srgbClr val="151B2D"/>
          </a:solidFill>
          <a:ln w="9525">
            <a:solidFill>
              <a:srgbClr val="1E293B"/>
            </a:solidFill>
          </a:ln>
        </p:spPr>
      </p:sp>
      <p:sp>
        <p:nvSpPr>
          <p:cNvPr id="14" name="Rectangle 14"/>
          <p:cNvSpPr/>
          <p:nvPr/>
        </p:nvSpPr>
        <p:spPr>
          <a:xfrm>
            <a:off x="4381500" y="1238250"/>
            <a:ext cx="57150" cy="1428750"/>
          </a:xfrm>
          <a:prstGeom prst="roundRect">
            <a:avLst>
              <a:gd name="adj" fmla="val 50000"/>
            </a:avLst>
          </a:prstGeom>
          <a:solidFill>
            <a:srgbClr val="10B981"/>
          </a:solidFill>
          <a:ln>
            <a:noFill/>
          </a:ln>
        </p:spPr>
      </p:sp>
      <p:sp>
        <p:nvSpPr>
          <p:cNvPr id="15" name="TextBox 15"/>
          <p:cNvSpPr txBox="1"/>
          <p:nvPr/>
        </p:nvSpPr>
        <p:spPr>
          <a:xfrm>
            <a:off x="4602480" y="1425892"/>
            <a:ext cx="242216" cy="274320"/>
          </a:xfrm>
          <a:prstGeom prst="rect">
            <a:avLst/>
          </a:prstGeom>
          <a:noFill/>
          <a:ln>
            <a:noFill/>
          </a:ln>
        </p:spPr>
        <p:txBody>
          <a:bodyPr wrap="none" lIns="0" tIns="0" rIns="0" bIns="0" anchor="t" anchorCtr="0">
            <a:spAutoFit/>
          </a:bodyPr>
          <a:lstStyle/>
          <a:p>
            <a:pPr algn="l"/>
            <a:r>
              <a:rPr lang="zh-CN" sz="1350" b="1" dirty="0">
                <a:solidFill>
                  <a:srgbClr val="10B981"/>
                </a:solidFill>
                <a:latin typeface="Arial"/>
                <a:ea typeface="Microsoft YaHei"/>
                <a:cs typeface="Arial"/>
              </a:rPr>
              <a:t>02</a:t>
            </a:r>
          </a:p>
        </p:txBody>
      </p:sp>
      <p:sp>
        <p:nvSpPr>
          <p:cNvPr id="16" name="TextBox 16"/>
          <p:cNvSpPr txBox="1"/>
          <p:nvPr/>
        </p:nvSpPr>
        <p:spPr>
          <a:xfrm>
            <a:off x="4983480" y="1425892"/>
            <a:ext cx="790384" cy="274320"/>
          </a:xfrm>
          <a:prstGeom prst="rect">
            <a:avLst/>
          </a:prstGeom>
          <a:noFill/>
          <a:ln>
            <a:noFill/>
          </a:ln>
        </p:spPr>
        <p:txBody>
          <a:bodyPr wrap="none" lIns="0" tIns="0" rIns="0" bIns="0" anchor="t" anchorCtr="0">
            <a:spAutoFit/>
          </a:bodyPr>
          <a:lstStyle/>
          <a:p>
            <a:pPr algn="l"/>
            <a:r>
              <a:rPr lang="zh-CN" sz="1350" b="1" dirty="0">
                <a:solidFill>
                  <a:srgbClr val="E2E8F0"/>
                </a:solidFill>
                <a:latin typeface="Arial"/>
                <a:ea typeface="Microsoft YaHei"/>
                <a:cs typeface="Arial"/>
              </a:rPr>
              <a:t>任务拆解</a:t>
            </a:r>
          </a:p>
        </p:txBody>
      </p:sp>
      <p:sp>
        <p:nvSpPr>
          <p:cNvPr id="17" name="TextBox 17"/>
          <p:cNvSpPr txBox="1"/>
          <p:nvPr/>
        </p:nvSpPr>
        <p:spPr>
          <a:xfrm>
            <a:off x="4605338" y="1783556"/>
            <a:ext cx="1176218"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3-6个可见产出块</a:t>
            </a:r>
          </a:p>
        </p:txBody>
      </p:sp>
      <p:sp>
        <p:nvSpPr>
          <p:cNvPr id="18" name="TextBox 18"/>
          <p:cNvSpPr txBox="1"/>
          <p:nvPr/>
        </p:nvSpPr>
        <p:spPr>
          <a:xfrm>
            <a:off x="4605338" y="2021681"/>
            <a:ext cx="1228725"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每步有明确交付物</a:t>
            </a:r>
          </a:p>
        </p:txBody>
      </p:sp>
      <p:sp>
        <p:nvSpPr>
          <p:cNvPr id="19" name="Rectangle 19"/>
          <p:cNvSpPr/>
          <p:nvPr/>
        </p:nvSpPr>
        <p:spPr>
          <a:xfrm>
            <a:off x="8191500" y="1238250"/>
            <a:ext cx="3429000" cy="1428750"/>
          </a:xfrm>
          <a:prstGeom prst="roundRect">
            <a:avLst>
              <a:gd name="adj" fmla="val 8000"/>
            </a:avLst>
          </a:prstGeom>
          <a:solidFill>
            <a:srgbClr val="151B2D"/>
          </a:solidFill>
          <a:ln w="9525">
            <a:solidFill>
              <a:srgbClr val="1E293B"/>
            </a:solidFill>
          </a:ln>
        </p:spPr>
      </p:sp>
      <p:sp>
        <p:nvSpPr>
          <p:cNvPr id="20" name="Rectangle 20"/>
          <p:cNvSpPr/>
          <p:nvPr/>
        </p:nvSpPr>
        <p:spPr>
          <a:xfrm>
            <a:off x="8191500" y="1238250"/>
            <a:ext cx="57150" cy="1428750"/>
          </a:xfrm>
          <a:prstGeom prst="roundRect">
            <a:avLst>
              <a:gd name="adj" fmla="val 50000"/>
            </a:avLst>
          </a:prstGeom>
          <a:solidFill>
            <a:srgbClr val="F59E0B"/>
          </a:solidFill>
          <a:ln>
            <a:noFill/>
          </a:ln>
        </p:spPr>
      </p:sp>
      <p:sp>
        <p:nvSpPr>
          <p:cNvPr id="21" name="TextBox 21"/>
          <p:cNvSpPr txBox="1"/>
          <p:nvPr/>
        </p:nvSpPr>
        <p:spPr>
          <a:xfrm>
            <a:off x="8412480" y="1425892"/>
            <a:ext cx="242216" cy="274320"/>
          </a:xfrm>
          <a:prstGeom prst="rect">
            <a:avLst/>
          </a:prstGeom>
          <a:noFill/>
          <a:ln>
            <a:noFill/>
          </a:ln>
        </p:spPr>
        <p:txBody>
          <a:bodyPr wrap="none" lIns="0" tIns="0" rIns="0" bIns="0" anchor="t" anchorCtr="0">
            <a:spAutoFit/>
          </a:bodyPr>
          <a:lstStyle/>
          <a:p>
            <a:pPr algn="l"/>
            <a:r>
              <a:rPr lang="zh-CN" sz="1350" b="1" dirty="0">
                <a:solidFill>
                  <a:srgbClr val="F59E0B"/>
                </a:solidFill>
                <a:latin typeface="Arial"/>
                <a:ea typeface="Microsoft YaHei"/>
                <a:cs typeface="Arial"/>
              </a:rPr>
              <a:t>03</a:t>
            </a:r>
          </a:p>
        </p:txBody>
      </p:sp>
      <p:sp>
        <p:nvSpPr>
          <p:cNvPr id="22" name="TextBox 22"/>
          <p:cNvSpPr txBox="1"/>
          <p:nvPr/>
        </p:nvSpPr>
        <p:spPr>
          <a:xfrm>
            <a:off x="8793480" y="1425892"/>
            <a:ext cx="790384" cy="274320"/>
          </a:xfrm>
          <a:prstGeom prst="rect">
            <a:avLst/>
          </a:prstGeom>
          <a:noFill/>
          <a:ln>
            <a:noFill/>
          </a:ln>
        </p:spPr>
        <p:txBody>
          <a:bodyPr wrap="none" lIns="0" tIns="0" rIns="0" bIns="0" anchor="t" anchorCtr="0">
            <a:spAutoFit/>
          </a:bodyPr>
          <a:lstStyle/>
          <a:p>
            <a:pPr algn="l"/>
            <a:r>
              <a:rPr lang="zh-CN" sz="1350" b="1" dirty="0">
                <a:solidFill>
                  <a:srgbClr val="E2E8F0"/>
                </a:solidFill>
                <a:latin typeface="Arial"/>
                <a:ea typeface="Microsoft YaHei"/>
                <a:cs typeface="Arial"/>
              </a:rPr>
              <a:t>限时执行</a:t>
            </a:r>
          </a:p>
        </p:txBody>
      </p:sp>
      <p:sp>
        <p:nvSpPr>
          <p:cNvPr id="23" name="TextBox 23"/>
          <p:cNvSpPr txBox="1"/>
          <p:nvPr/>
        </p:nvSpPr>
        <p:spPr>
          <a:xfrm>
            <a:off x="8415338" y="1783556"/>
            <a:ext cx="883682"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每步1-15分钟</a:t>
            </a:r>
          </a:p>
        </p:txBody>
      </p:sp>
      <p:sp>
        <p:nvSpPr>
          <p:cNvPr id="24" name="TextBox 24"/>
          <p:cNvSpPr txBox="1"/>
          <p:nvPr/>
        </p:nvSpPr>
        <p:spPr>
          <a:xfrm>
            <a:off x="8415338" y="2021681"/>
            <a:ext cx="1228725"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降低无限准备空间</a:t>
            </a:r>
          </a:p>
        </p:txBody>
      </p:sp>
      <p:sp>
        <p:nvSpPr>
          <p:cNvPr id="25" name="Rectangle 25"/>
          <p:cNvSpPr/>
          <p:nvPr/>
        </p:nvSpPr>
        <p:spPr>
          <a:xfrm>
            <a:off x="571500" y="2952750"/>
            <a:ext cx="3429000" cy="1428750"/>
          </a:xfrm>
          <a:prstGeom prst="roundRect">
            <a:avLst>
              <a:gd name="adj" fmla="val 8000"/>
            </a:avLst>
          </a:prstGeom>
          <a:solidFill>
            <a:srgbClr val="151B2D"/>
          </a:solidFill>
          <a:ln w="9525">
            <a:solidFill>
              <a:srgbClr val="1E293B"/>
            </a:solidFill>
          </a:ln>
        </p:spPr>
      </p:sp>
      <p:sp>
        <p:nvSpPr>
          <p:cNvPr id="26" name="Rectangle 26"/>
          <p:cNvSpPr/>
          <p:nvPr/>
        </p:nvSpPr>
        <p:spPr>
          <a:xfrm>
            <a:off x="571500" y="2952750"/>
            <a:ext cx="57150" cy="1428750"/>
          </a:xfrm>
          <a:prstGeom prst="roundRect">
            <a:avLst>
              <a:gd name="adj" fmla="val 50000"/>
            </a:avLst>
          </a:prstGeom>
          <a:solidFill>
            <a:srgbClr val="3B82F6"/>
          </a:solidFill>
          <a:ln>
            <a:noFill/>
          </a:ln>
        </p:spPr>
      </p:sp>
      <p:sp>
        <p:nvSpPr>
          <p:cNvPr id="27" name="TextBox 27"/>
          <p:cNvSpPr txBox="1"/>
          <p:nvPr/>
        </p:nvSpPr>
        <p:spPr>
          <a:xfrm>
            <a:off x="792480" y="3140392"/>
            <a:ext cx="242216" cy="274320"/>
          </a:xfrm>
          <a:prstGeom prst="rect">
            <a:avLst/>
          </a:prstGeom>
          <a:noFill/>
          <a:ln>
            <a:noFill/>
          </a:ln>
        </p:spPr>
        <p:txBody>
          <a:bodyPr wrap="none" lIns="0" tIns="0" rIns="0" bIns="0" anchor="t" anchorCtr="0">
            <a:spAutoFit/>
          </a:bodyPr>
          <a:lstStyle/>
          <a:p>
            <a:pPr algn="l"/>
            <a:r>
              <a:rPr lang="zh-CN" sz="1350" b="1" dirty="0">
                <a:solidFill>
                  <a:srgbClr val="3B82F6"/>
                </a:solidFill>
                <a:latin typeface="Arial"/>
                <a:ea typeface="Microsoft YaHei"/>
                <a:cs typeface="Arial"/>
              </a:rPr>
              <a:t>04</a:t>
            </a:r>
          </a:p>
        </p:txBody>
      </p:sp>
      <p:sp>
        <p:nvSpPr>
          <p:cNvPr id="28" name="TextBox 28"/>
          <p:cNvSpPr txBox="1"/>
          <p:nvPr/>
        </p:nvSpPr>
        <p:spPr>
          <a:xfrm>
            <a:off x="1173480" y="3140392"/>
            <a:ext cx="979408" cy="274320"/>
          </a:xfrm>
          <a:prstGeom prst="rect">
            <a:avLst/>
          </a:prstGeom>
          <a:noFill/>
          <a:ln>
            <a:noFill/>
          </a:ln>
        </p:spPr>
        <p:txBody>
          <a:bodyPr wrap="none" lIns="0" tIns="0" rIns="0" bIns="0" anchor="t" anchorCtr="0">
            <a:spAutoFit/>
          </a:bodyPr>
          <a:lstStyle/>
          <a:p>
            <a:pPr algn="l"/>
            <a:r>
              <a:rPr lang="zh-CN" sz="1350" b="1" dirty="0">
                <a:solidFill>
                  <a:srgbClr val="E2E8F0"/>
                </a:solidFill>
                <a:latin typeface="Arial"/>
                <a:ea typeface="Microsoft YaHei"/>
                <a:cs typeface="Arial"/>
              </a:rPr>
              <a:t>上下文协助</a:t>
            </a:r>
          </a:p>
        </p:txBody>
      </p:sp>
      <p:sp>
        <p:nvSpPr>
          <p:cNvPr id="29" name="TextBox 29"/>
          <p:cNvSpPr txBox="1"/>
          <p:nvPr/>
        </p:nvSpPr>
        <p:spPr>
          <a:xfrm>
            <a:off x="795338" y="3498056"/>
            <a:ext cx="928688"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卡住时直接给</a:t>
            </a:r>
          </a:p>
        </p:txBody>
      </p:sp>
      <p:sp>
        <p:nvSpPr>
          <p:cNvPr id="30" name="TextBox 30"/>
          <p:cNvSpPr txBox="1"/>
          <p:nvPr/>
        </p:nvSpPr>
        <p:spPr>
          <a:xfrm>
            <a:off x="795338" y="3736181"/>
            <a:ext cx="1528762"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可复制、可修改的内容</a:t>
            </a:r>
          </a:p>
        </p:txBody>
      </p:sp>
      <p:sp>
        <p:nvSpPr>
          <p:cNvPr id="31" name="Rectangle 31"/>
          <p:cNvSpPr/>
          <p:nvPr/>
        </p:nvSpPr>
        <p:spPr>
          <a:xfrm>
            <a:off x="4381500" y="2952750"/>
            <a:ext cx="3429000" cy="1428750"/>
          </a:xfrm>
          <a:prstGeom prst="roundRect">
            <a:avLst>
              <a:gd name="adj" fmla="val 8000"/>
            </a:avLst>
          </a:prstGeom>
          <a:solidFill>
            <a:srgbClr val="151B2D"/>
          </a:solidFill>
          <a:ln w="9525">
            <a:solidFill>
              <a:srgbClr val="1E293B"/>
            </a:solidFill>
          </a:ln>
        </p:spPr>
      </p:sp>
      <p:sp>
        <p:nvSpPr>
          <p:cNvPr id="32" name="Rectangle 32"/>
          <p:cNvSpPr/>
          <p:nvPr/>
        </p:nvSpPr>
        <p:spPr>
          <a:xfrm>
            <a:off x="4381500" y="2952750"/>
            <a:ext cx="57150" cy="1428750"/>
          </a:xfrm>
          <a:prstGeom prst="roundRect">
            <a:avLst>
              <a:gd name="adj" fmla="val 50000"/>
            </a:avLst>
          </a:prstGeom>
          <a:solidFill>
            <a:srgbClr val="10B981"/>
          </a:solidFill>
          <a:ln>
            <a:noFill/>
          </a:ln>
        </p:spPr>
      </p:sp>
      <p:sp>
        <p:nvSpPr>
          <p:cNvPr id="33" name="TextBox 33"/>
          <p:cNvSpPr txBox="1"/>
          <p:nvPr/>
        </p:nvSpPr>
        <p:spPr>
          <a:xfrm>
            <a:off x="4602480" y="3140392"/>
            <a:ext cx="242216" cy="274320"/>
          </a:xfrm>
          <a:prstGeom prst="rect">
            <a:avLst/>
          </a:prstGeom>
          <a:noFill/>
          <a:ln>
            <a:noFill/>
          </a:ln>
        </p:spPr>
        <p:txBody>
          <a:bodyPr wrap="none" lIns="0" tIns="0" rIns="0" bIns="0" anchor="t" anchorCtr="0">
            <a:spAutoFit/>
          </a:bodyPr>
          <a:lstStyle/>
          <a:p>
            <a:pPr algn="l"/>
            <a:r>
              <a:rPr lang="zh-CN" sz="1350" b="1" dirty="0">
                <a:solidFill>
                  <a:srgbClr val="10B981"/>
                </a:solidFill>
                <a:latin typeface="Arial"/>
                <a:ea typeface="Microsoft YaHei"/>
                <a:cs typeface="Arial"/>
              </a:rPr>
              <a:t>05</a:t>
            </a:r>
          </a:p>
        </p:txBody>
      </p:sp>
      <p:sp>
        <p:nvSpPr>
          <p:cNvPr id="34" name="TextBox 34"/>
          <p:cNvSpPr txBox="1"/>
          <p:nvPr/>
        </p:nvSpPr>
        <p:spPr>
          <a:xfrm>
            <a:off x="4983480" y="3140392"/>
            <a:ext cx="790384" cy="274320"/>
          </a:xfrm>
          <a:prstGeom prst="rect">
            <a:avLst/>
          </a:prstGeom>
          <a:noFill/>
          <a:ln>
            <a:noFill/>
          </a:ln>
        </p:spPr>
        <p:txBody>
          <a:bodyPr wrap="none" lIns="0" tIns="0" rIns="0" bIns="0" anchor="t" anchorCtr="0">
            <a:spAutoFit/>
          </a:bodyPr>
          <a:lstStyle/>
          <a:p>
            <a:pPr algn="l"/>
            <a:r>
              <a:rPr lang="zh-CN" sz="1350" b="1" dirty="0">
                <a:solidFill>
                  <a:srgbClr val="E2E8F0"/>
                </a:solidFill>
                <a:latin typeface="Arial"/>
                <a:ea typeface="Microsoft YaHei"/>
                <a:cs typeface="Arial"/>
              </a:rPr>
              <a:t>改进循环</a:t>
            </a:r>
          </a:p>
        </p:txBody>
      </p:sp>
      <p:sp>
        <p:nvSpPr>
          <p:cNvPr id="35" name="TextBox 35"/>
          <p:cNvSpPr txBox="1"/>
          <p:nvPr/>
        </p:nvSpPr>
        <p:spPr>
          <a:xfrm>
            <a:off x="4605338" y="3498056"/>
            <a:ext cx="1078706"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完成后只改一处</a:t>
            </a:r>
          </a:p>
        </p:txBody>
      </p:sp>
      <p:sp>
        <p:nvSpPr>
          <p:cNvPr id="36" name="TextBox 36"/>
          <p:cNvSpPr txBox="1"/>
          <p:nvPr/>
        </p:nvSpPr>
        <p:spPr>
          <a:xfrm>
            <a:off x="4605338" y="3736181"/>
            <a:ext cx="1078706"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防止优化变拖延</a:t>
            </a:r>
          </a:p>
        </p:txBody>
      </p:sp>
      <p:sp>
        <p:nvSpPr>
          <p:cNvPr id="37" name="Rectangle 37"/>
          <p:cNvSpPr/>
          <p:nvPr/>
        </p:nvSpPr>
        <p:spPr>
          <a:xfrm>
            <a:off x="8191500" y="2952750"/>
            <a:ext cx="3429000" cy="1428750"/>
          </a:xfrm>
          <a:prstGeom prst="roundRect">
            <a:avLst>
              <a:gd name="adj" fmla="val 8000"/>
            </a:avLst>
          </a:prstGeom>
          <a:solidFill>
            <a:srgbClr val="151B2D"/>
          </a:solidFill>
          <a:ln w="9525">
            <a:solidFill>
              <a:srgbClr val="1E293B"/>
            </a:solidFill>
          </a:ln>
        </p:spPr>
      </p:sp>
      <p:sp>
        <p:nvSpPr>
          <p:cNvPr id="38" name="Rectangle 38"/>
          <p:cNvSpPr/>
          <p:nvPr/>
        </p:nvSpPr>
        <p:spPr>
          <a:xfrm>
            <a:off x="8191500" y="2952750"/>
            <a:ext cx="57150" cy="1428750"/>
          </a:xfrm>
          <a:prstGeom prst="roundRect">
            <a:avLst>
              <a:gd name="adj" fmla="val 50000"/>
            </a:avLst>
          </a:prstGeom>
          <a:solidFill>
            <a:srgbClr val="F59E0B"/>
          </a:solidFill>
          <a:ln>
            <a:noFill/>
          </a:ln>
        </p:spPr>
      </p:sp>
      <p:sp>
        <p:nvSpPr>
          <p:cNvPr id="39" name="TextBox 39"/>
          <p:cNvSpPr txBox="1"/>
          <p:nvPr/>
        </p:nvSpPr>
        <p:spPr>
          <a:xfrm>
            <a:off x="8412480" y="3140392"/>
            <a:ext cx="242216" cy="274320"/>
          </a:xfrm>
          <a:prstGeom prst="rect">
            <a:avLst/>
          </a:prstGeom>
          <a:noFill/>
          <a:ln>
            <a:noFill/>
          </a:ln>
        </p:spPr>
        <p:txBody>
          <a:bodyPr wrap="none" lIns="0" tIns="0" rIns="0" bIns="0" anchor="t" anchorCtr="0">
            <a:spAutoFit/>
          </a:bodyPr>
          <a:lstStyle/>
          <a:p>
            <a:pPr algn="l"/>
            <a:r>
              <a:rPr lang="zh-CN" sz="1350" b="1" dirty="0">
                <a:solidFill>
                  <a:srgbClr val="F59E0B"/>
                </a:solidFill>
                <a:latin typeface="Arial"/>
                <a:ea typeface="Microsoft YaHei"/>
                <a:cs typeface="Arial"/>
              </a:rPr>
              <a:t>06</a:t>
            </a:r>
          </a:p>
        </p:txBody>
      </p:sp>
      <p:sp>
        <p:nvSpPr>
          <p:cNvPr id="40" name="TextBox 40"/>
          <p:cNvSpPr txBox="1"/>
          <p:nvPr/>
        </p:nvSpPr>
        <p:spPr>
          <a:xfrm>
            <a:off x="8793480" y="3140392"/>
            <a:ext cx="790384" cy="274320"/>
          </a:xfrm>
          <a:prstGeom prst="rect">
            <a:avLst/>
          </a:prstGeom>
          <a:noFill/>
          <a:ln>
            <a:noFill/>
          </a:ln>
        </p:spPr>
        <p:txBody>
          <a:bodyPr wrap="none" lIns="0" tIns="0" rIns="0" bIns="0" anchor="t" anchorCtr="0">
            <a:spAutoFit/>
          </a:bodyPr>
          <a:lstStyle/>
          <a:p>
            <a:pPr algn="l"/>
            <a:r>
              <a:rPr lang="zh-CN" sz="1350" b="1" dirty="0">
                <a:solidFill>
                  <a:srgbClr val="E2E8F0"/>
                </a:solidFill>
                <a:latin typeface="Arial"/>
                <a:ea typeface="Microsoft YaHei"/>
                <a:cs typeface="Arial"/>
              </a:rPr>
              <a:t>产出评价</a:t>
            </a:r>
          </a:p>
        </p:txBody>
      </p:sp>
      <p:sp>
        <p:nvSpPr>
          <p:cNvPr id="41" name="TextBox 41"/>
          <p:cNvSpPr txBox="1"/>
          <p:nvPr/>
        </p:nvSpPr>
        <p:spPr>
          <a:xfrm>
            <a:off x="8415338" y="3498056"/>
            <a:ext cx="1011198"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5维度质量报告</a:t>
            </a:r>
          </a:p>
        </p:txBody>
      </p:sp>
      <p:sp>
        <p:nvSpPr>
          <p:cNvPr id="42" name="TextBox 42"/>
          <p:cNvSpPr txBox="1"/>
          <p:nvPr/>
        </p:nvSpPr>
        <p:spPr>
          <a:xfrm>
            <a:off x="8415338" y="3736181"/>
            <a:ext cx="1228725"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诚实回答能否发布</a:t>
            </a:r>
          </a:p>
        </p:txBody>
      </p:sp>
      <p:sp>
        <p:nvSpPr>
          <p:cNvPr id="43" name="Rectangle 43"/>
          <p:cNvSpPr/>
          <p:nvPr/>
        </p:nvSpPr>
        <p:spPr>
          <a:xfrm>
            <a:off x="571500" y="4667250"/>
            <a:ext cx="11049000" cy="762000"/>
          </a:xfrm>
          <a:prstGeom prst="roundRect">
            <a:avLst>
              <a:gd name="adj" fmla="val 15000"/>
            </a:avLst>
          </a:prstGeom>
          <a:solidFill>
            <a:srgbClr val="151B2D"/>
          </a:solidFill>
          <a:ln w="9525">
            <a:solidFill>
              <a:srgbClr val="3B82F6"/>
            </a:solidFill>
          </a:ln>
        </p:spPr>
      </p:sp>
      <p:sp>
        <p:nvSpPr>
          <p:cNvPr id="44" name="TextBox 44"/>
          <p:cNvSpPr txBox="1"/>
          <p:nvPr/>
        </p:nvSpPr>
        <p:spPr>
          <a:xfrm>
            <a:off x="838200" y="4933950"/>
            <a:ext cx="6128861" cy="304800"/>
          </a:xfrm>
          <a:prstGeom prst="rect">
            <a:avLst/>
          </a:prstGeom>
          <a:noFill/>
          <a:ln>
            <a:noFill/>
          </a:ln>
        </p:spPr>
        <p:txBody>
          <a:bodyPr wrap="none" lIns="0" tIns="0" rIns="0" bIns="0" anchor="t" anchorCtr="0">
            <a:spAutoFit/>
          </a:bodyPr>
          <a:lstStyle/>
          <a:p>
            <a:pPr algn="l"/>
            <a:r>
              <a:rPr lang="zh-CN" sz="1500" b="1" dirty="0">
                <a:solidFill>
                  <a:srgbClr val="E2E8F0"/>
                </a:solidFill>
                <a:latin typeface="Arial"/>
                <a:ea typeface="Microsoft YaHei"/>
                <a:cs typeface="Arial"/>
              </a:rPr>
              <a:t>核心承诺：不改变你的标准，只先制造一个能被标准加工的对象。</a:t>
            </a:r>
          </a:p>
        </p:txBody>
      </p:sp>
      <p:sp>
        <p:nvSpPr>
          <p:cNvPr id="45" name="TextBox 45"/>
          <p:cNvSpPr txBox="1"/>
          <p:nvPr/>
        </p:nvSpPr>
        <p:spPr>
          <a:xfrm>
            <a:off x="11016520" y="6570345"/>
            <a:ext cx="424910" cy="182880"/>
          </a:xfrm>
          <a:prstGeom prst="rect">
            <a:avLst/>
          </a:prstGeom>
          <a:noFill/>
          <a:ln>
            <a:noFill/>
          </a:ln>
        </p:spPr>
        <p:txBody>
          <a:bodyPr wrap="none" lIns="0" tIns="0" rIns="0" bIns="0" anchor="t" anchorCtr="0">
            <a:spAutoFit/>
          </a:bodyPr>
          <a:lstStyle/>
          <a:p>
            <a:pPr algn="r"/>
            <a:r>
              <a:rPr lang="zh-CN" sz="900" dirty="0">
                <a:solidFill>
                  <a:srgbClr val="64748B"/>
                </a:solidFill>
                <a:latin typeface="Arial"/>
                <a:ea typeface="Microsoft YaHei"/>
                <a:cs typeface="Arial"/>
              </a:rPr>
              <a:t>03 / 09</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57150" cy="6858000"/>
          </a:xfrm>
          <a:prstGeom prst="rect">
            <a:avLst/>
          </a:prstGeom>
          <a:solidFill>
            <a:srgbClr val="3B82F6"/>
          </a:solidFill>
          <a:ln>
            <a:noFill/>
          </a:ln>
        </p:spPr>
      </p:sp>
      <p:sp>
        <p:nvSpPr>
          <p:cNvPr id="4" name="TextBox 4"/>
          <p:cNvSpPr txBox="1"/>
          <p:nvPr/>
        </p:nvSpPr>
        <p:spPr>
          <a:xfrm>
            <a:off x="537210" y="232410"/>
            <a:ext cx="4283807" cy="548640"/>
          </a:xfrm>
          <a:prstGeom prst="rect">
            <a:avLst/>
          </a:prstGeom>
          <a:noFill/>
          <a:ln>
            <a:noFill/>
          </a:ln>
        </p:spPr>
        <p:txBody>
          <a:bodyPr wrap="none" lIns="0" tIns="0" rIns="0" bIns="0" anchor="t" anchorCtr="0">
            <a:spAutoFit/>
          </a:bodyPr>
          <a:lstStyle/>
          <a:p>
            <a:pPr algn="l"/>
            <a:r>
              <a:rPr lang="zh-CN" sz="2700" b="1" dirty="0">
                <a:solidFill>
                  <a:srgbClr val="E2E8F0"/>
                </a:solidFill>
                <a:latin typeface="Arial"/>
                <a:ea typeface="Microsoft YaHei"/>
                <a:cs typeface="Arial"/>
              </a:rPr>
              <a:t>产品演示 — 证明真的能用</a:t>
            </a:r>
          </a:p>
        </p:txBody>
      </p:sp>
      <p:sp>
        <p:nvSpPr>
          <p:cNvPr id="5" name="Rectangle 5"/>
          <p:cNvSpPr/>
          <p:nvPr/>
        </p:nvSpPr>
        <p:spPr>
          <a:xfrm>
            <a:off x="571500" y="647700"/>
            <a:ext cx="3619500" cy="28575"/>
          </a:xfrm>
          <a:prstGeom prst="rect">
            <a:avLst/>
          </a:prstGeom>
          <a:solidFill>
            <a:srgbClr val="3B82F6"/>
          </a:solidFill>
          <a:ln>
            <a:noFill/>
          </a:ln>
        </p:spPr>
      </p:sp>
      <p:sp>
        <p:nvSpPr>
          <p:cNvPr id="6" name="Rectangle 6"/>
          <p:cNvSpPr/>
          <p:nvPr/>
        </p:nvSpPr>
        <p:spPr>
          <a:xfrm>
            <a:off x="571500" y="1047750"/>
            <a:ext cx="6667500" cy="4095750"/>
          </a:xfrm>
          <a:prstGeom prst="roundRect">
            <a:avLst>
              <a:gd name="adj" fmla="val 2791"/>
            </a:avLst>
          </a:prstGeom>
          <a:solidFill>
            <a:srgbClr val="151B2D"/>
          </a:solidFill>
          <a:ln w="9525">
            <a:solidFill>
              <a:srgbClr val="1E293B"/>
            </a:solidFill>
          </a:ln>
        </p:spPr>
      </p:sp>
      <p:sp>
        <p:nvSpPr>
          <p:cNvPr id="7" name="Rectangle 7"/>
          <p:cNvSpPr/>
          <p:nvPr/>
        </p:nvSpPr>
        <p:spPr>
          <a:xfrm>
            <a:off x="571500" y="1047750"/>
            <a:ext cx="6667500" cy="285750"/>
          </a:xfrm>
          <a:prstGeom prst="roundRect">
            <a:avLst>
              <a:gd name="adj" fmla="val 40000"/>
            </a:avLst>
          </a:prstGeom>
          <a:solidFill>
            <a:srgbClr val="1E293B"/>
          </a:solidFill>
          <a:ln>
            <a:noFill/>
          </a:ln>
        </p:spPr>
      </p:sp>
      <p:sp>
        <p:nvSpPr>
          <p:cNvPr id="8" name="Rectangle 8"/>
          <p:cNvSpPr/>
          <p:nvPr/>
        </p:nvSpPr>
        <p:spPr>
          <a:xfrm>
            <a:off x="571500" y="1238250"/>
            <a:ext cx="6667500" cy="95250"/>
          </a:xfrm>
          <a:prstGeom prst="rect">
            <a:avLst/>
          </a:prstGeom>
          <a:solidFill>
            <a:srgbClr val="1E293B"/>
          </a:solidFill>
          <a:ln>
            <a:noFill/>
          </a:ln>
        </p:spPr>
      </p:sp>
      <p:sp>
        <p:nvSpPr>
          <p:cNvPr id="9" name="Ellipse 9"/>
          <p:cNvSpPr/>
          <p:nvPr/>
        </p:nvSpPr>
        <p:spPr>
          <a:xfrm>
            <a:off x="762000" y="1143000"/>
            <a:ext cx="95250" cy="95250"/>
          </a:xfrm>
          <a:prstGeom prst="ellipse">
            <a:avLst/>
          </a:prstGeom>
          <a:solidFill>
            <a:srgbClr val="EF4444"/>
          </a:solidFill>
          <a:ln>
            <a:noFill/>
          </a:ln>
        </p:spPr>
      </p:sp>
      <p:sp>
        <p:nvSpPr>
          <p:cNvPr id="10" name="Ellipse 10"/>
          <p:cNvSpPr/>
          <p:nvPr/>
        </p:nvSpPr>
        <p:spPr>
          <a:xfrm>
            <a:off x="952500" y="1143000"/>
            <a:ext cx="95250" cy="95250"/>
          </a:xfrm>
          <a:prstGeom prst="ellipse">
            <a:avLst/>
          </a:prstGeom>
          <a:solidFill>
            <a:srgbClr val="F59E0B"/>
          </a:solidFill>
          <a:ln>
            <a:noFill/>
          </a:ln>
        </p:spPr>
      </p:sp>
      <p:sp>
        <p:nvSpPr>
          <p:cNvPr id="11" name="Ellipse 11"/>
          <p:cNvSpPr/>
          <p:nvPr/>
        </p:nvSpPr>
        <p:spPr>
          <a:xfrm>
            <a:off x="1143000" y="1143000"/>
            <a:ext cx="95250" cy="95250"/>
          </a:xfrm>
          <a:prstGeom prst="ellipse">
            <a:avLst/>
          </a:prstGeom>
          <a:solidFill>
            <a:srgbClr val="10B981"/>
          </a:solidFill>
          <a:ln>
            <a:noFill/>
          </a:ln>
        </p:spPr>
      </p:sp>
      <p:sp>
        <p:nvSpPr>
          <p:cNvPr id="12" name="TextBox 12"/>
          <p:cNvSpPr txBox="1"/>
          <p:nvPr/>
        </p:nvSpPr>
        <p:spPr>
          <a:xfrm>
            <a:off x="5022437" y="1141095"/>
            <a:ext cx="1084993" cy="182880"/>
          </a:xfrm>
          <a:prstGeom prst="rect">
            <a:avLst/>
          </a:prstGeom>
          <a:noFill/>
          <a:ln>
            <a:noFill/>
          </a:ln>
        </p:spPr>
        <p:txBody>
          <a:bodyPr wrap="none" lIns="0" tIns="0" rIns="0" bIns="0" anchor="t" anchorCtr="0">
            <a:spAutoFit/>
          </a:bodyPr>
          <a:lstStyle/>
          <a:p>
            <a:pPr algn="r"/>
            <a:r>
              <a:rPr lang="zh-CN" sz="900" dirty="0">
                <a:solidFill>
                  <a:srgbClr val="64748B"/>
                </a:solidFill>
                <a:latin typeface="Arial"/>
                <a:ea typeface="Microsoft YaHei"/>
                <a:cs typeface="Arial"/>
              </a:rPr>
              <a:t>破冰协议 Web Demo</a:t>
            </a:r>
          </a:p>
        </p:txBody>
      </p:sp>
      <p:sp>
        <p:nvSpPr>
          <p:cNvPr id="13" name="Rectangle 13"/>
          <p:cNvSpPr/>
          <p:nvPr/>
        </p:nvSpPr>
        <p:spPr>
          <a:xfrm>
            <a:off x="762000" y="1524000"/>
            <a:ext cx="1905000" cy="3429000"/>
          </a:xfrm>
          <a:prstGeom prst="roundRect">
            <a:avLst>
              <a:gd name="adj" fmla="val 4000"/>
            </a:avLst>
          </a:prstGeom>
          <a:solidFill>
            <a:srgbClr val="0A0E1A"/>
          </a:solidFill>
          <a:ln>
            <a:noFill/>
          </a:ln>
        </p:spPr>
      </p:sp>
      <p:sp>
        <p:nvSpPr>
          <p:cNvPr id="14" name="TextBox 14"/>
          <p:cNvSpPr txBox="1"/>
          <p:nvPr/>
        </p:nvSpPr>
        <p:spPr>
          <a:xfrm>
            <a:off x="1034415" y="1696402"/>
            <a:ext cx="320707" cy="213360"/>
          </a:xfrm>
          <a:prstGeom prst="rect">
            <a:avLst/>
          </a:prstGeom>
          <a:noFill/>
          <a:ln>
            <a:noFill/>
          </a:ln>
        </p:spPr>
        <p:txBody>
          <a:bodyPr wrap="none" lIns="0" tIns="0" rIns="0" bIns="0" anchor="t" anchorCtr="0">
            <a:spAutoFit/>
          </a:bodyPr>
          <a:lstStyle/>
          <a:p>
            <a:pPr algn="l"/>
            <a:r>
              <a:rPr lang="zh-CN" sz="1050" b="1" dirty="0">
                <a:solidFill>
                  <a:srgbClr val="3B82F6"/>
                </a:solidFill>
                <a:latin typeface="Arial"/>
                <a:ea typeface="Microsoft YaHei"/>
                <a:cs typeface="Arial"/>
              </a:rPr>
              <a:t>契约</a:t>
            </a:r>
          </a:p>
        </p:txBody>
      </p:sp>
      <p:sp>
        <p:nvSpPr>
          <p:cNvPr id="15" name="TextBox 15"/>
          <p:cNvSpPr txBox="1"/>
          <p:nvPr/>
        </p:nvSpPr>
        <p:spPr>
          <a:xfrm>
            <a:off x="1036320" y="1998345"/>
            <a:ext cx="742950"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目标是雏形，</a:t>
            </a:r>
          </a:p>
        </p:txBody>
      </p:sp>
      <p:sp>
        <p:nvSpPr>
          <p:cNvPr id="16" name="TextBox 16"/>
          <p:cNvSpPr txBox="1"/>
          <p:nvPr/>
        </p:nvSpPr>
        <p:spPr>
          <a:xfrm>
            <a:off x="1036320" y="2188845"/>
            <a:ext cx="742950"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不是完美成品</a:t>
            </a:r>
          </a:p>
        </p:txBody>
      </p:sp>
      <p:sp>
        <p:nvSpPr>
          <p:cNvPr id="17" name="Rectangle 17"/>
          <p:cNvSpPr/>
          <p:nvPr/>
        </p:nvSpPr>
        <p:spPr>
          <a:xfrm>
            <a:off x="1047750" y="2476500"/>
            <a:ext cx="1333500" cy="19050"/>
          </a:xfrm>
          <a:prstGeom prst="rect">
            <a:avLst/>
          </a:prstGeom>
          <a:solidFill>
            <a:srgbClr val="1E293B"/>
          </a:solidFill>
          <a:ln>
            <a:noFill/>
          </a:ln>
        </p:spPr>
      </p:sp>
      <p:sp>
        <p:nvSpPr>
          <p:cNvPr id="18" name="TextBox 18"/>
          <p:cNvSpPr txBox="1"/>
          <p:nvPr/>
        </p:nvSpPr>
        <p:spPr>
          <a:xfrm>
            <a:off x="1034415" y="2648902"/>
            <a:ext cx="467725" cy="213360"/>
          </a:xfrm>
          <a:prstGeom prst="rect">
            <a:avLst/>
          </a:prstGeom>
          <a:noFill/>
          <a:ln>
            <a:noFill/>
          </a:ln>
        </p:spPr>
        <p:txBody>
          <a:bodyPr wrap="none" lIns="0" tIns="0" rIns="0" bIns="0" anchor="t" anchorCtr="0">
            <a:spAutoFit/>
          </a:bodyPr>
          <a:lstStyle/>
          <a:p>
            <a:pPr algn="l"/>
            <a:r>
              <a:rPr lang="zh-CN" sz="1050" b="1" dirty="0">
                <a:solidFill>
                  <a:srgbClr val="10B981"/>
                </a:solidFill>
                <a:latin typeface="Arial"/>
                <a:ea typeface="Microsoft YaHei"/>
                <a:cs typeface="Arial"/>
              </a:rPr>
              <a:t>路线图</a:t>
            </a:r>
          </a:p>
        </p:txBody>
      </p:sp>
      <p:sp>
        <p:nvSpPr>
          <p:cNvPr id="19" name="TextBox 19"/>
          <p:cNvSpPr txBox="1"/>
          <p:nvPr/>
        </p:nvSpPr>
        <p:spPr>
          <a:xfrm>
            <a:off x="1036320" y="2950845"/>
            <a:ext cx="688943"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5步可见产出</a:t>
            </a:r>
          </a:p>
        </p:txBody>
      </p:sp>
      <p:sp>
        <p:nvSpPr>
          <p:cNvPr id="20" name="Rectangle 20"/>
          <p:cNvSpPr/>
          <p:nvPr/>
        </p:nvSpPr>
        <p:spPr>
          <a:xfrm>
            <a:off x="1047750" y="3238500"/>
            <a:ext cx="1333500" cy="19050"/>
          </a:xfrm>
          <a:prstGeom prst="rect">
            <a:avLst/>
          </a:prstGeom>
          <a:solidFill>
            <a:srgbClr val="1E293B"/>
          </a:solidFill>
          <a:ln>
            <a:noFill/>
          </a:ln>
        </p:spPr>
      </p:sp>
      <p:sp>
        <p:nvSpPr>
          <p:cNvPr id="21" name="TextBox 21"/>
          <p:cNvSpPr txBox="1"/>
          <p:nvPr/>
        </p:nvSpPr>
        <p:spPr>
          <a:xfrm>
            <a:off x="1034415" y="3410902"/>
            <a:ext cx="320707" cy="213360"/>
          </a:xfrm>
          <a:prstGeom prst="rect">
            <a:avLst/>
          </a:prstGeom>
          <a:noFill/>
          <a:ln>
            <a:noFill/>
          </a:ln>
        </p:spPr>
        <p:txBody>
          <a:bodyPr wrap="none" lIns="0" tIns="0" rIns="0" bIns="0" anchor="t" anchorCtr="0">
            <a:spAutoFit/>
          </a:bodyPr>
          <a:lstStyle/>
          <a:p>
            <a:pPr algn="l"/>
            <a:r>
              <a:rPr lang="zh-CN" sz="1050" b="1" dirty="0">
                <a:solidFill>
                  <a:srgbClr val="F59E0B"/>
                </a:solidFill>
                <a:latin typeface="Arial"/>
                <a:ea typeface="Microsoft YaHei"/>
                <a:cs typeface="Arial"/>
              </a:rPr>
              <a:t>计时</a:t>
            </a:r>
          </a:p>
        </p:txBody>
      </p:sp>
      <p:sp>
        <p:nvSpPr>
          <p:cNvPr id="22" name="TextBox 22"/>
          <p:cNvSpPr txBox="1"/>
          <p:nvPr/>
        </p:nvSpPr>
        <p:spPr>
          <a:xfrm>
            <a:off x="1036320" y="3712845"/>
            <a:ext cx="718947"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15:00 乱写期</a:t>
            </a:r>
          </a:p>
        </p:txBody>
      </p:sp>
      <p:sp>
        <p:nvSpPr>
          <p:cNvPr id="23" name="Ellipse 23"/>
          <p:cNvSpPr/>
          <p:nvPr/>
        </p:nvSpPr>
        <p:spPr>
          <a:xfrm>
            <a:off x="952500" y="3905250"/>
            <a:ext cx="571500" cy="571500"/>
          </a:xfrm>
          <a:prstGeom prst="ellipse">
            <a:avLst/>
          </a:prstGeom>
          <a:noFill/>
          <a:ln w="28575">
            <a:solidFill>
              <a:srgbClr val="3B82F6"/>
            </a:solidFill>
          </a:ln>
        </p:spPr>
      </p:sp>
      <p:sp>
        <p:nvSpPr>
          <p:cNvPr id="24" name="TextBox 24"/>
          <p:cNvSpPr txBox="1"/>
          <p:nvPr/>
        </p:nvSpPr>
        <p:spPr>
          <a:xfrm>
            <a:off x="1041142" y="4153852"/>
            <a:ext cx="394216" cy="213360"/>
          </a:xfrm>
          <a:prstGeom prst="rect">
            <a:avLst/>
          </a:prstGeom>
          <a:noFill/>
          <a:ln>
            <a:noFill/>
          </a:ln>
        </p:spPr>
        <p:txBody>
          <a:bodyPr wrap="none" lIns="0" tIns="0" rIns="0" bIns="0" anchor="t" anchorCtr="0">
            <a:spAutoFit/>
          </a:bodyPr>
          <a:lstStyle/>
          <a:p>
            <a:pPr algn="ctr"/>
            <a:r>
              <a:rPr lang="zh-CN" sz="1050" b="1" dirty="0">
                <a:solidFill>
                  <a:srgbClr val="3B82F6"/>
                </a:solidFill>
                <a:latin typeface="Arial"/>
                <a:ea typeface="Microsoft YaHei"/>
                <a:cs typeface="Arial"/>
              </a:rPr>
              <a:t>14:32</a:t>
            </a:r>
          </a:p>
        </p:txBody>
      </p:sp>
      <p:sp>
        <p:nvSpPr>
          <p:cNvPr id="25" name="Rectangle 25"/>
          <p:cNvSpPr/>
          <p:nvPr/>
        </p:nvSpPr>
        <p:spPr>
          <a:xfrm>
            <a:off x="2857500" y="1524000"/>
            <a:ext cx="4095750" cy="3429000"/>
          </a:xfrm>
          <a:prstGeom prst="roundRect">
            <a:avLst>
              <a:gd name="adj" fmla="val 2222"/>
            </a:avLst>
          </a:prstGeom>
          <a:solidFill>
            <a:srgbClr val="0A0E1A"/>
          </a:solidFill>
          <a:ln>
            <a:noFill/>
          </a:ln>
        </p:spPr>
      </p:sp>
      <p:sp>
        <p:nvSpPr>
          <p:cNvPr id="26" name="TextBox 26"/>
          <p:cNvSpPr txBox="1"/>
          <p:nvPr/>
        </p:nvSpPr>
        <p:spPr>
          <a:xfrm>
            <a:off x="3129915" y="1696402"/>
            <a:ext cx="1438046" cy="213360"/>
          </a:xfrm>
          <a:prstGeom prst="rect">
            <a:avLst/>
          </a:prstGeom>
          <a:noFill/>
          <a:ln>
            <a:noFill/>
          </a:ln>
        </p:spPr>
        <p:txBody>
          <a:bodyPr wrap="none" lIns="0" tIns="0" rIns="0" bIns="0" anchor="t" anchorCtr="0">
            <a:spAutoFit/>
          </a:bodyPr>
          <a:lstStyle/>
          <a:p>
            <a:pPr algn="l"/>
            <a:r>
              <a:rPr lang="zh-CN" sz="1050" b="1" dirty="0">
                <a:solidFill>
                  <a:srgbClr val="E2E8F0"/>
                </a:solidFill>
                <a:latin typeface="Arial"/>
                <a:ea typeface="Microsoft YaHei"/>
                <a:cs typeface="Arial"/>
              </a:rPr>
              <a:t>步骤 1：明确核心价值</a:t>
            </a:r>
          </a:p>
        </p:txBody>
      </p:sp>
      <p:sp>
        <p:nvSpPr>
          <p:cNvPr id="27" name="TextBox 27"/>
          <p:cNvSpPr txBox="1"/>
          <p:nvPr/>
        </p:nvSpPr>
        <p:spPr>
          <a:xfrm>
            <a:off x="3131820" y="1998345"/>
            <a:ext cx="1223010"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产出：一句话核心定位</a:t>
            </a:r>
          </a:p>
        </p:txBody>
      </p:sp>
      <p:sp>
        <p:nvSpPr>
          <p:cNvPr id="28" name="Rectangle 28"/>
          <p:cNvSpPr/>
          <p:nvPr/>
        </p:nvSpPr>
        <p:spPr>
          <a:xfrm>
            <a:off x="3143250" y="2381250"/>
            <a:ext cx="3524250" cy="1143000"/>
          </a:xfrm>
          <a:prstGeom prst="roundRect">
            <a:avLst>
              <a:gd name="adj" fmla="val 5000"/>
            </a:avLst>
          </a:prstGeom>
          <a:solidFill>
            <a:srgbClr val="151B2D"/>
          </a:solidFill>
          <a:ln>
            <a:noFill/>
          </a:ln>
        </p:spPr>
      </p:sp>
      <p:sp>
        <p:nvSpPr>
          <p:cNvPr id="29" name="TextBox 29"/>
          <p:cNvSpPr txBox="1"/>
          <p:nvPr/>
        </p:nvSpPr>
        <p:spPr>
          <a:xfrm>
            <a:off x="3322320" y="2569845"/>
            <a:ext cx="1583055" cy="182880"/>
          </a:xfrm>
          <a:prstGeom prst="rect">
            <a:avLst/>
          </a:prstGeom>
          <a:noFill/>
          <a:ln>
            <a:noFill/>
          </a:ln>
        </p:spPr>
        <p:txBody>
          <a:bodyPr wrap="none" lIns="0" tIns="0" rIns="0" bIns="0" anchor="t" anchorCtr="0">
            <a:spAutoFit/>
          </a:bodyPr>
          <a:lstStyle/>
          <a:p>
            <a:pPr algn="l"/>
            <a:r>
              <a:rPr lang="zh-CN" sz="900" dirty="0">
                <a:solidFill>
                  <a:srgbClr val="E2E8F0"/>
                </a:solidFill>
                <a:latin typeface="Arial"/>
                <a:ea typeface="Microsoft YaHei"/>
                <a:cs typeface="Arial"/>
              </a:rPr>
              <a:t>让不会用手机的老人，能随时</a:t>
            </a:r>
          </a:p>
        </p:txBody>
      </p:sp>
      <p:sp>
        <p:nvSpPr>
          <p:cNvPr id="30" name="TextBox 30"/>
          <p:cNvSpPr txBox="1"/>
          <p:nvPr/>
        </p:nvSpPr>
        <p:spPr>
          <a:xfrm>
            <a:off x="3322320" y="2760345"/>
            <a:ext cx="1583055" cy="182880"/>
          </a:xfrm>
          <a:prstGeom prst="rect">
            <a:avLst/>
          </a:prstGeom>
          <a:noFill/>
          <a:ln>
            <a:noFill/>
          </a:ln>
        </p:spPr>
        <p:txBody>
          <a:bodyPr wrap="none" lIns="0" tIns="0" rIns="0" bIns="0" anchor="t" anchorCtr="0">
            <a:spAutoFit/>
          </a:bodyPr>
          <a:lstStyle/>
          <a:p>
            <a:pPr algn="l"/>
            <a:r>
              <a:rPr lang="zh-CN" sz="900" dirty="0">
                <a:solidFill>
                  <a:srgbClr val="E2E8F0"/>
                </a:solidFill>
                <a:latin typeface="Arial"/>
                <a:ea typeface="Microsoft YaHei"/>
                <a:cs typeface="Arial"/>
              </a:rPr>
              <a:t>找到一个靠谱的人远程帮他们</a:t>
            </a:r>
          </a:p>
        </p:txBody>
      </p:sp>
      <p:sp>
        <p:nvSpPr>
          <p:cNvPr id="31" name="TextBox 31"/>
          <p:cNvSpPr txBox="1"/>
          <p:nvPr/>
        </p:nvSpPr>
        <p:spPr>
          <a:xfrm>
            <a:off x="3322320" y="2950845"/>
            <a:ext cx="382905" cy="182880"/>
          </a:xfrm>
          <a:prstGeom prst="rect">
            <a:avLst/>
          </a:prstGeom>
          <a:noFill/>
          <a:ln>
            <a:noFill/>
          </a:ln>
        </p:spPr>
        <p:txBody>
          <a:bodyPr wrap="none" lIns="0" tIns="0" rIns="0" bIns="0" anchor="t" anchorCtr="0">
            <a:spAutoFit/>
          </a:bodyPr>
          <a:lstStyle/>
          <a:p>
            <a:pPr algn="l"/>
            <a:r>
              <a:rPr lang="zh-CN" sz="900" dirty="0">
                <a:solidFill>
                  <a:srgbClr val="E2E8F0"/>
                </a:solidFill>
                <a:latin typeface="Arial"/>
                <a:ea typeface="Microsoft YaHei"/>
                <a:cs typeface="Arial"/>
              </a:rPr>
              <a:t>操作。</a:t>
            </a:r>
          </a:p>
        </p:txBody>
      </p:sp>
      <p:sp>
        <p:nvSpPr>
          <p:cNvPr id="32" name="Rectangle 32"/>
          <p:cNvSpPr/>
          <p:nvPr/>
        </p:nvSpPr>
        <p:spPr>
          <a:xfrm>
            <a:off x="3143250" y="3714750"/>
            <a:ext cx="1714500" cy="285750"/>
          </a:xfrm>
          <a:prstGeom prst="roundRect">
            <a:avLst>
              <a:gd name="adj" fmla="val 20000"/>
            </a:avLst>
          </a:prstGeom>
          <a:solidFill>
            <a:srgbClr val="3B82F6"/>
          </a:solidFill>
          <a:ln>
            <a:noFill/>
          </a:ln>
        </p:spPr>
      </p:sp>
      <p:sp>
        <p:nvSpPr>
          <p:cNvPr id="33" name="TextBox 33"/>
          <p:cNvSpPr txBox="1"/>
          <p:nvPr/>
        </p:nvSpPr>
        <p:spPr>
          <a:xfrm>
            <a:off x="3569018" y="3808095"/>
            <a:ext cx="862965"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做完了，下一步</a:t>
            </a:r>
          </a:p>
        </p:txBody>
      </p:sp>
      <p:sp>
        <p:nvSpPr>
          <p:cNvPr id="34" name="TextBox 34"/>
          <p:cNvSpPr txBox="1"/>
          <p:nvPr/>
        </p:nvSpPr>
        <p:spPr>
          <a:xfrm>
            <a:off x="2351722" y="5220652"/>
            <a:ext cx="3107055"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Web Demo 界面示意 — 从契约到路线图到计时执行</a:t>
            </a:r>
          </a:p>
        </p:txBody>
      </p:sp>
      <p:sp>
        <p:nvSpPr>
          <p:cNvPr id="35" name="Rectangle 35"/>
          <p:cNvSpPr/>
          <p:nvPr/>
        </p:nvSpPr>
        <p:spPr>
          <a:xfrm>
            <a:off x="7524750" y="1047750"/>
            <a:ext cx="4095750" cy="1333500"/>
          </a:xfrm>
          <a:prstGeom prst="roundRect">
            <a:avLst>
              <a:gd name="adj" fmla="val 8571"/>
            </a:avLst>
          </a:prstGeom>
          <a:solidFill>
            <a:srgbClr val="151B2D"/>
          </a:solidFill>
          <a:ln w="9525">
            <a:solidFill>
              <a:srgbClr val="1E293B"/>
            </a:solidFill>
          </a:ln>
        </p:spPr>
      </p:sp>
      <p:sp>
        <p:nvSpPr>
          <p:cNvPr id="36" name="Rectangle 36"/>
          <p:cNvSpPr/>
          <p:nvPr/>
        </p:nvSpPr>
        <p:spPr>
          <a:xfrm>
            <a:off x="7524750" y="1047750"/>
            <a:ext cx="4095750" cy="38100"/>
          </a:xfrm>
          <a:prstGeom prst="roundRect">
            <a:avLst>
              <a:gd name="adj" fmla="val 50000"/>
            </a:avLst>
          </a:prstGeom>
          <a:solidFill>
            <a:srgbClr val="3B82F6"/>
          </a:solidFill>
          <a:ln>
            <a:noFill/>
          </a:ln>
        </p:spPr>
      </p:sp>
      <p:sp>
        <p:nvSpPr>
          <p:cNvPr id="37" name="TextBox 37"/>
          <p:cNvSpPr txBox="1"/>
          <p:nvPr/>
        </p:nvSpPr>
        <p:spPr>
          <a:xfrm>
            <a:off x="7793355" y="1283018"/>
            <a:ext cx="988859" cy="274320"/>
          </a:xfrm>
          <a:prstGeom prst="rect">
            <a:avLst/>
          </a:prstGeom>
          <a:noFill/>
          <a:ln>
            <a:noFill/>
          </a:ln>
        </p:spPr>
        <p:txBody>
          <a:bodyPr wrap="none" lIns="0" tIns="0" rIns="0" bIns="0" anchor="t" anchorCtr="0">
            <a:spAutoFit/>
          </a:bodyPr>
          <a:lstStyle/>
          <a:p>
            <a:pPr algn="l"/>
            <a:r>
              <a:rPr lang="zh-CN" sz="1350" b="1" dirty="0">
                <a:solidFill>
                  <a:srgbClr val="3B82F6"/>
                </a:solidFill>
                <a:latin typeface="Arial"/>
                <a:ea typeface="Microsoft YaHei"/>
                <a:cs typeface="Arial"/>
              </a:rPr>
              <a:t>Agent Skill</a:t>
            </a:r>
          </a:p>
        </p:txBody>
      </p:sp>
      <p:sp>
        <p:nvSpPr>
          <p:cNvPr id="38" name="TextBox 38"/>
          <p:cNvSpPr txBox="1"/>
          <p:nvPr/>
        </p:nvSpPr>
        <p:spPr>
          <a:xfrm>
            <a:off x="7797165" y="1601152"/>
            <a:ext cx="1671876"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Arial"/>
                <a:ea typeface="Microsoft YaHei"/>
                <a:cs typeface="Arial"/>
              </a:rPr>
              <a:t>嵌入 Claude Code / Codex</a:t>
            </a:r>
          </a:p>
        </p:txBody>
      </p:sp>
      <p:sp>
        <p:nvSpPr>
          <p:cNvPr id="39" name="TextBox 39"/>
          <p:cNvSpPr txBox="1"/>
          <p:nvPr/>
        </p:nvSpPr>
        <p:spPr>
          <a:xfrm>
            <a:off x="7797165" y="1839278"/>
            <a:ext cx="1146810"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Arial"/>
                <a:ea typeface="Microsoft YaHei"/>
                <a:cs typeface="Arial"/>
              </a:rPr>
              <a:t>零部署，即插即用</a:t>
            </a:r>
          </a:p>
        </p:txBody>
      </p:sp>
      <p:sp>
        <p:nvSpPr>
          <p:cNvPr id="40" name="TextBox 40"/>
          <p:cNvSpPr txBox="1"/>
          <p:nvPr/>
        </p:nvSpPr>
        <p:spPr>
          <a:xfrm>
            <a:off x="7799070" y="2141220"/>
            <a:ext cx="1102995"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已发布，可直接使用</a:t>
            </a:r>
          </a:p>
        </p:txBody>
      </p:sp>
      <p:sp>
        <p:nvSpPr>
          <p:cNvPr id="41" name="Rectangle 41"/>
          <p:cNvSpPr/>
          <p:nvPr/>
        </p:nvSpPr>
        <p:spPr>
          <a:xfrm>
            <a:off x="7524750" y="2571750"/>
            <a:ext cx="4095750" cy="1333500"/>
          </a:xfrm>
          <a:prstGeom prst="roundRect">
            <a:avLst>
              <a:gd name="adj" fmla="val 8571"/>
            </a:avLst>
          </a:prstGeom>
          <a:solidFill>
            <a:srgbClr val="151B2D"/>
          </a:solidFill>
          <a:ln w="9525">
            <a:solidFill>
              <a:srgbClr val="1E293B"/>
            </a:solidFill>
          </a:ln>
        </p:spPr>
      </p:sp>
      <p:sp>
        <p:nvSpPr>
          <p:cNvPr id="42" name="Rectangle 42"/>
          <p:cNvSpPr/>
          <p:nvPr/>
        </p:nvSpPr>
        <p:spPr>
          <a:xfrm>
            <a:off x="7524750" y="2571750"/>
            <a:ext cx="4095750" cy="38100"/>
          </a:xfrm>
          <a:prstGeom prst="roundRect">
            <a:avLst>
              <a:gd name="adj" fmla="val 50000"/>
            </a:avLst>
          </a:prstGeom>
          <a:solidFill>
            <a:srgbClr val="10B981"/>
          </a:solidFill>
          <a:ln>
            <a:noFill/>
          </a:ln>
        </p:spPr>
      </p:sp>
      <p:sp>
        <p:nvSpPr>
          <p:cNvPr id="43" name="TextBox 43"/>
          <p:cNvSpPr txBox="1"/>
          <p:nvPr/>
        </p:nvSpPr>
        <p:spPr>
          <a:xfrm>
            <a:off x="7793355" y="2807018"/>
            <a:ext cx="733677" cy="274320"/>
          </a:xfrm>
          <a:prstGeom prst="rect">
            <a:avLst/>
          </a:prstGeom>
          <a:noFill/>
          <a:ln>
            <a:noFill/>
          </a:ln>
        </p:spPr>
        <p:txBody>
          <a:bodyPr wrap="none" lIns="0" tIns="0" rIns="0" bIns="0" anchor="t" anchorCtr="0">
            <a:spAutoFit/>
          </a:bodyPr>
          <a:lstStyle/>
          <a:p>
            <a:pPr algn="l"/>
            <a:r>
              <a:rPr lang="zh-CN" sz="1350" b="1" dirty="0">
                <a:solidFill>
                  <a:srgbClr val="10B981"/>
                </a:solidFill>
                <a:latin typeface="Arial"/>
                <a:ea typeface="Microsoft YaHei"/>
                <a:cs typeface="Arial"/>
              </a:rPr>
              <a:t>CLI 工具</a:t>
            </a:r>
          </a:p>
        </p:txBody>
      </p:sp>
      <p:sp>
        <p:nvSpPr>
          <p:cNvPr id="44" name="TextBox 44"/>
          <p:cNvSpPr txBox="1"/>
          <p:nvPr/>
        </p:nvSpPr>
        <p:spPr>
          <a:xfrm>
            <a:off x="7797165" y="3125152"/>
            <a:ext cx="1482852"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Arial"/>
                <a:ea typeface="Microsoft YaHei"/>
                <a:cs typeface="Arial"/>
              </a:rPr>
              <a:t>timer.py + review.py</a:t>
            </a:r>
          </a:p>
        </p:txBody>
      </p:sp>
      <p:sp>
        <p:nvSpPr>
          <p:cNvPr id="45" name="TextBox 45"/>
          <p:cNvSpPr txBox="1"/>
          <p:nvPr/>
        </p:nvSpPr>
        <p:spPr>
          <a:xfrm>
            <a:off x="7797165" y="3363278"/>
            <a:ext cx="1006792"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Arial"/>
                <a:ea typeface="Microsoft YaHei"/>
                <a:cs typeface="Arial"/>
              </a:rPr>
              <a:t>支持本地工作流</a:t>
            </a:r>
          </a:p>
        </p:txBody>
      </p:sp>
      <p:sp>
        <p:nvSpPr>
          <p:cNvPr id="46" name="TextBox 46"/>
          <p:cNvSpPr txBox="1"/>
          <p:nvPr/>
        </p:nvSpPr>
        <p:spPr>
          <a:xfrm>
            <a:off x="7799070" y="3665220"/>
            <a:ext cx="1259014"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Vercel serverless API</a:t>
            </a:r>
          </a:p>
        </p:txBody>
      </p:sp>
      <p:sp>
        <p:nvSpPr>
          <p:cNvPr id="47" name="Rectangle 47"/>
          <p:cNvSpPr/>
          <p:nvPr/>
        </p:nvSpPr>
        <p:spPr>
          <a:xfrm>
            <a:off x="7524750" y="4095750"/>
            <a:ext cx="4095750" cy="1047750"/>
          </a:xfrm>
          <a:prstGeom prst="roundRect">
            <a:avLst>
              <a:gd name="adj" fmla="val 10909"/>
            </a:avLst>
          </a:prstGeom>
          <a:solidFill>
            <a:srgbClr val="151B2D"/>
          </a:solidFill>
          <a:ln w="9525">
            <a:solidFill>
              <a:srgbClr val="1E293B"/>
            </a:solidFill>
          </a:ln>
        </p:spPr>
      </p:sp>
      <p:sp>
        <p:nvSpPr>
          <p:cNvPr id="48" name="TextBox 48"/>
          <p:cNvSpPr txBox="1"/>
          <p:nvPr/>
        </p:nvSpPr>
        <p:spPr>
          <a:xfrm>
            <a:off x="7795260" y="4299585"/>
            <a:ext cx="1038606" cy="243840"/>
          </a:xfrm>
          <a:prstGeom prst="rect">
            <a:avLst/>
          </a:prstGeom>
          <a:noFill/>
          <a:ln>
            <a:noFill/>
          </a:ln>
        </p:spPr>
        <p:txBody>
          <a:bodyPr wrap="none" lIns="0" tIns="0" rIns="0" bIns="0" anchor="t" anchorCtr="0">
            <a:spAutoFit/>
          </a:bodyPr>
          <a:lstStyle/>
          <a:p>
            <a:pPr algn="l"/>
            <a:r>
              <a:rPr lang="zh-CN" sz="1200" b="1" dirty="0">
                <a:solidFill>
                  <a:srgbClr val="F59E0B"/>
                </a:solidFill>
                <a:latin typeface="Arial"/>
                <a:ea typeface="Microsoft YaHei"/>
                <a:cs typeface="Arial"/>
              </a:rPr>
              <a:t>两个最亮功能</a:t>
            </a:r>
          </a:p>
        </p:txBody>
      </p:sp>
      <p:sp>
        <p:nvSpPr>
          <p:cNvPr id="49" name="TextBox 49"/>
          <p:cNvSpPr txBox="1"/>
          <p:nvPr/>
        </p:nvSpPr>
        <p:spPr>
          <a:xfrm>
            <a:off x="7798118" y="4609624"/>
            <a:ext cx="1975009" cy="198120"/>
          </a:xfrm>
          <a:prstGeom prst="rect">
            <a:avLst/>
          </a:prstGeom>
          <a:noFill/>
          <a:ln>
            <a:noFill/>
          </a:ln>
        </p:spPr>
        <p:txBody>
          <a:bodyPr wrap="none" lIns="0" tIns="0" rIns="0" bIns="0" anchor="t" anchorCtr="0">
            <a:spAutoFit/>
          </a:bodyPr>
          <a:lstStyle/>
          <a:p>
            <a:pPr algn="l"/>
            <a:r>
              <a:rPr lang="zh-CN" sz="975" dirty="0">
                <a:solidFill>
                  <a:srgbClr val="E2E8F0"/>
                </a:solidFill>
                <a:latin typeface="Arial"/>
                <a:ea typeface="Microsoft YaHei"/>
                <a:cs typeface="Arial"/>
              </a:rPr>
              <a:t>三阶段计时器：强制降低启动标准</a:t>
            </a:r>
          </a:p>
        </p:txBody>
      </p:sp>
      <p:sp>
        <p:nvSpPr>
          <p:cNvPr id="50" name="TextBox 50"/>
          <p:cNvSpPr txBox="1"/>
          <p:nvPr/>
        </p:nvSpPr>
        <p:spPr>
          <a:xfrm>
            <a:off x="7798118" y="4847749"/>
            <a:ext cx="1988010" cy="198120"/>
          </a:xfrm>
          <a:prstGeom prst="rect">
            <a:avLst/>
          </a:prstGeom>
          <a:noFill/>
          <a:ln>
            <a:noFill/>
          </a:ln>
        </p:spPr>
        <p:txBody>
          <a:bodyPr wrap="none" lIns="0" tIns="0" rIns="0" bIns="0" anchor="t" anchorCtr="0">
            <a:spAutoFit/>
          </a:bodyPr>
          <a:lstStyle/>
          <a:p>
            <a:pPr algn="l"/>
            <a:r>
              <a:rPr lang="zh-CN" sz="975" dirty="0">
                <a:solidFill>
                  <a:srgbClr val="E2E8F0"/>
                </a:solidFill>
                <a:latin typeface="Arial"/>
                <a:ea typeface="Microsoft YaHei"/>
                <a:cs typeface="Arial"/>
              </a:rPr>
              <a:t>产出评价：诚实回答"能不能发布"</a:t>
            </a:r>
          </a:p>
        </p:txBody>
      </p:sp>
      <p:sp>
        <p:nvSpPr>
          <p:cNvPr id="51" name="TextBox 51"/>
          <p:cNvSpPr txBox="1"/>
          <p:nvPr/>
        </p:nvSpPr>
        <p:spPr>
          <a:xfrm>
            <a:off x="11016520" y="6570345"/>
            <a:ext cx="424910" cy="182880"/>
          </a:xfrm>
          <a:prstGeom prst="rect">
            <a:avLst/>
          </a:prstGeom>
          <a:noFill/>
          <a:ln>
            <a:noFill/>
          </a:ln>
        </p:spPr>
        <p:txBody>
          <a:bodyPr wrap="none" lIns="0" tIns="0" rIns="0" bIns="0" anchor="t" anchorCtr="0">
            <a:spAutoFit/>
          </a:bodyPr>
          <a:lstStyle/>
          <a:p>
            <a:pPr algn="r"/>
            <a:r>
              <a:rPr lang="zh-CN" sz="900" dirty="0">
                <a:solidFill>
                  <a:srgbClr val="64748B"/>
                </a:solidFill>
                <a:latin typeface="Arial"/>
                <a:ea typeface="Microsoft YaHei"/>
                <a:cs typeface="Arial"/>
              </a:rPr>
              <a:t>04 / 09</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57150" cy="6858000"/>
          </a:xfrm>
          <a:prstGeom prst="rect">
            <a:avLst/>
          </a:prstGeom>
          <a:solidFill>
            <a:srgbClr val="3B82F6"/>
          </a:solidFill>
          <a:ln>
            <a:noFill/>
          </a:ln>
        </p:spPr>
      </p:sp>
      <p:sp>
        <p:nvSpPr>
          <p:cNvPr id="4" name="TextBox 4"/>
          <p:cNvSpPr txBox="1"/>
          <p:nvPr/>
        </p:nvSpPr>
        <p:spPr>
          <a:xfrm>
            <a:off x="537210" y="232410"/>
            <a:ext cx="4661854" cy="548640"/>
          </a:xfrm>
          <a:prstGeom prst="rect">
            <a:avLst/>
          </a:prstGeom>
          <a:noFill/>
          <a:ln>
            <a:noFill/>
          </a:ln>
        </p:spPr>
        <p:txBody>
          <a:bodyPr wrap="none" lIns="0" tIns="0" rIns="0" bIns="0" anchor="t" anchorCtr="0">
            <a:spAutoFit/>
          </a:bodyPr>
          <a:lstStyle/>
          <a:p>
            <a:pPr algn="l"/>
            <a:r>
              <a:rPr lang="zh-CN" sz="2700" b="1" dirty="0">
                <a:solidFill>
                  <a:srgbClr val="E2E8F0"/>
                </a:solidFill>
                <a:latin typeface="Arial"/>
                <a:ea typeface="Microsoft YaHei"/>
                <a:cs typeface="Arial"/>
              </a:rPr>
              <a:t>使用权价值 — 买方买到什么</a:t>
            </a:r>
          </a:p>
        </p:txBody>
      </p:sp>
      <p:sp>
        <p:nvSpPr>
          <p:cNvPr id="5" name="Rectangle 5"/>
          <p:cNvSpPr/>
          <p:nvPr/>
        </p:nvSpPr>
        <p:spPr>
          <a:xfrm>
            <a:off x="571500" y="647700"/>
            <a:ext cx="4572000" cy="28575"/>
          </a:xfrm>
          <a:prstGeom prst="rect">
            <a:avLst/>
          </a:prstGeom>
          <a:solidFill>
            <a:srgbClr val="3B82F6"/>
          </a:solidFill>
          <a:ln>
            <a:noFill/>
          </a:ln>
        </p:spPr>
      </p:sp>
      <p:sp>
        <p:nvSpPr>
          <p:cNvPr id="6" name="Rectangle 6"/>
          <p:cNvSpPr/>
          <p:nvPr/>
        </p:nvSpPr>
        <p:spPr>
          <a:xfrm>
            <a:off x="571500" y="904875"/>
            <a:ext cx="11049000" cy="571500"/>
          </a:xfrm>
          <a:prstGeom prst="roundRect">
            <a:avLst>
              <a:gd name="adj" fmla="val 13333"/>
            </a:avLst>
          </a:prstGeom>
          <a:solidFill>
            <a:srgbClr val="F59E0B">
              <a:alpha val="10000"/>
            </a:srgbClr>
          </a:solidFill>
          <a:ln w="9525">
            <a:solidFill>
              <a:srgbClr val="F59E0B"/>
            </a:solidFill>
          </a:ln>
        </p:spPr>
      </p:sp>
      <p:sp>
        <p:nvSpPr>
          <p:cNvPr id="7" name="TextBox 7"/>
          <p:cNvSpPr txBox="1"/>
          <p:nvPr/>
        </p:nvSpPr>
        <p:spPr>
          <a:xfrm>
            <a:off x="842010" y="1156335"/>
            <a:ext cx="5844007" cy="243840"/>
          </a:xfrm>
          <a:prstGeom prst="rect">
            <a:avLst/>
          </a:prstGeom>
          <a:noFill/>
          <a:ln>
            <a:noFill/>
          </a:ln>
        </p:spPr>
        <p:txBody>
          <a:bodyPr wrap="none" lIns="0" tIns="0" rIns="0" bIns="0" anchor="t" anchorCtr="0">
            <a:spAutoFit/>
          </a:bodyPr>
          <a:lstStyle/>
          <a:p>
            <a:pPr algn="l"/>
            <a:r>
              <a:rPr lang="zh-CN" sz="1200" b="1" dirty="0">
                <a:solidFill>
                  <a:srgbClr val="F59E0B"/>
                </a:solidFill>
                <a:latin typeface="Arial"/>
                <a:ea typeface="Microsoft YaHei"/>
                <a:cs typeface="Arial"/>
              </a:rPr>
              <a:t>本次拍卖标的：场景化使用授权 + 部署交付 + 模板定制 + 培训支持 + 后续迭代</a:t>
            </a:r>
          </a:p>
        </p:txBody>
      </p:sp>
      <p:sp>
        <p:nvSpPr>
          <p:cNvPr id="8" name="Rectangle 8"/>
          <p:cNvSpPr/>
          <p:nvPr/>
        </p:nvSpPr>
        <p:spPr>
          <a:xfrm>
            <a:off x="571500" y="1714500"/>
            <a:ext cx="3429000" cy="2190750"/>
          </a:xfrm>
          <a:prstGeom prst="roundRect">
            <a:avLst>
              <a:gd name="adj" fmla="val 5217"/>
            </a:avLst>
          </a:prstGeom>
          <a:solidFill>
            <a:srgbClr val="151B2D"/>
          </a:solidFill>
          <a:ln w="9525">
            <a:solidFill>
              <a:srgbClr val="1E293B"/>
            </a:solidFill>
          </a:ln>
        </p:spPr>
      </p:sp>
      <p:sp>
        <p:nvSpPr>
          <p:cNvPr id="9" name="Rectangle 9"/>
          <p:cNvSpPr/>
          <p:nvPr/>
        </p:nvSpPr>
        <p:spPr>
          <a:xfrm>
            <a:off x="571500" y="1714500"/>
            <a:ext cx="57150" cy="2190750"/>
          </a:xfrm>
          <a:prstGeom prst="roundRect">
            <a:avLst>
              <a:gd name="adj" fmla="val 50000"/>
            </a:avLst>
          </a:prstGeom>
          <a:solidFill>
            <a:srgbClr val="3B82F6"/>
          </a:solidFill>
          <a:ln>
            <a:noFill/>
          </a:ln>
        </p:spPr>
      </p:sp>
      <p:sp>
        <p:nvSpPr>
          <p:cNvPr id="10" name="TextBox 10"/>
          <p:cNvSpPr txBox="1"/>
          <p:nvPr/>
        </p:nvSpPr>
        <p:spPr>
          <a:xfrm>
            <a:off x="838200" y="1933575"/>
            <a:ext cx="1088231" cy="304800"/>
          </a:xfrm>
          <a:prstGeom prst="rect">
            <a:avLst/>
          </a:prstGeom>
          <a:noFill/>
          <a:ln>
            <a:noFill/>
          </a:ln>
        </p:spPr>
        <p:txBody>
          <a:bodyPr wrap="none" lIns="0" tIns="0" rIns="0" bIns="0" anchor="t" anchorCtr="0">
            <a:spAutoFit/>
          </a:bodyPr>
          <a:lstStyle/>
          <a:p>
            <a:pPr algn="l"/>
            <a:r>
              <a:rPr lang="zh-CN" sz="1500" b="1" dirty="0">
                <a:solidFill>
                  <a:srgbClr val="3B82F6"/>
                </a:solidFill>
                <a:latin typeface="Arial"/>
                <a:ea typeface="Microsoft YaHei"/>
                <a:cs typeface="Arial"/>
              </a:rPr>
              <a:t>场景化授权</a:t>
            </a:r>
          </a:p>
        </p:txBody>
      </p:sp>
      <p:sp>
        <p:nvSpPr>
          <p:cNvPr id="11" name="TextBox 11"/>
          <p:cNvSpPr txBox="1"/>
          <p:nvPr/>
        </p:nvSpPr>
        <p:spPr>
          <a:xfrm>
            <a:off x="842962" y="2355056"/>
            <a:ext cx="1678781" cy="228600"/>
          </a:xfrm>
          <a:prstGeom prst="rect">
            <a:avLst/>
          </a:prstGeom>
          <a:noFill/>
          <a:ln>
            <a:noFill/>
          </a:ln>
        </p:spPr>
        <p:txBody>
          <a:bodyPr wrap="none" lIns="0" tIns="0" rIns="0" bIns="0" anchor="t" anchorCtr="0">
            <a:spAutoFit/>
          </a:bodyPr>
          <a:lstStyle/>
          <a:p>
            <a:pPr algn="l"/>
            <a:r>
              <a:rPr lang="zh-CN" sz="1125" dirty="0">
                <a:solidFill>
                  <a:srgbClr val="E2E8F0"/>
                </a:solidFill>
                <a:latin typeface="Arial"/>
                <a:ea typeface="Microsoft YaHei"/>
                <a:cs typeface="Arial"/>
              </a:rPr>
              <a:t>按买方需求定制协议模板</a:t>
            </a:r>
          </a:p>
        </p:txBody>
      </p:sp>
      <p:sp>
        <p:nvSpPr>
          <p:cNvPr id="12" name="TextBox 12"/>
          <p:cNvSpPr txBox="1"/>
          <p:nvPr/>
        </p:nvSpPr>
        <p:spPr>
          <a:xfrm>
            <a:off x="842962" y="2640806"/>
            <a:ext cx="1746290"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求职 / 创作 / 编程 / 企业</a:t>
            </a:r>
          </a:p>
        </p:txBody>
      </p:sp>
      <p:sp>
        <p:nvSpPr>
          <p:cNvPr id="13" name="TextBox 13"/>
          <p:cNvSpPr txBox="1"/>
          <p:nvPr/>
        </p:nvSpPr>
        <p:spPr>
          <a:xfrm>
            <a:off x="842962" y="2926556"/>
            <a:ext cx="2053828"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可独立品牌运营，非简单 fork</a:t>
            </a:r>
          </a:p>
        </p:txBody>
      </p:sp>
      <p:sp>
        <p:nvSpPr>
          <p:cNvPr id="14" name="TextBox 14"/>
          <p:cNvSpPr txBox="1"/>
          <p:nvPr/>
        </p:nvSpPr>
        <p:spPr>
          <a:xfrm>
            <a:off x="844868" y="3323749"/>
            <a:ext cx="915376"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 开源代码本身</a:t>
            </a:r>
          </a:p>
        </p:txBody>
      </p:sp>
      <p:sp>
        <p:nvSpPr>
          <p:cNvPr id="15" name="Rectangle 15"/>
          <p:cNvSpPr/>
          <p:nvPr/>
        </p:nvSpPr>
        <p:spPr>
          <a:xfrm>
            <a:off x="4381500" y="1714500"/>
            <a:ext cx="3429000" cy="2190750"/>
          </a:xfrm>
          <a:prstGeom prst="roundRect">
            <a:avLst>
              <a:gd name="adj" fmla="val 5217"/>
            </a:avLst>
          </a:prstGeom>
          <a:solidFill>
            <a:srgbClr val="151B2D"/>
          </a:solidFill>
          <a:ln w="9525">
            <a:solidFill>
              <a:srgbClr val="1E293B"/>
            </a:solidFill>
          </a:ln>
        </p:spPr>
      </p:sp>
      <p:sp>
        <p:nvSpPr>
          <p:cNvPr id="16" name="Rectangle 16"/>
          <p:cNvSpPr/>
          <p:nvPr/>
        </p:nvSpPr>
        <p:spPr>
          <a:xfrm>
            <a:off x="4381500" y="1714500"/>
            <a:ext cx="57150" cy="2190750"/>
          </a:xfrm>
          <a:prstGeom prst="roundRect">
            <a:avLst>
              <a:gd name="adj" fmla="val 50000"/>
            </a:avLst>
          </a:prstGeom>
          <a:solidFill>
            <a:srgbClr val="10B981"/>
          </a:solidFill>
          <a:ln>
            <a:noFill/>
          </a:ln>
        </p:spPr>
      </p:sp>
      <p:sp>
        <p:nvSpPr>
          <p:cNvPr id="17" name="TextBox 17"/>
          <p:cNvSpPr txBox="1"/>
          <p:nvPr/>
        </p:nvSpPr>
        <p:spPr>
          <a:xfrm>
            <a:off x="4648200" y="1933575"/>
            <a:ext cx="878205" cy="304800"/>
          </a:xfrm>
          <a:prstGeom prst="rect">
            <a:avLst/>
          </a:prstGeom>
          <a:noFill/>
          <a:ln>
            <a:noFill/>
          </a:ln>
        </p:spPr>
        <p:txBody>
          <a:bodyPr wrap="none" lIns="0" tIns="0" rIns="0" bIns="0" anchor="t" anchorCtr="0">
            <a:spAutoFit/>
          </a:bodyPr>
          <a:lstStyle/>
          <a:p>
            <a:pPr algn="l"/>
            <a:r>
              <a:rPr lang="zh-CN" sz="1500" b="1" dirty="0">
                <a:solidFill>
                  <a:srgbClr val="10B981"/>
                </a:solidFill>
                <a:latin typeface="Arial"/>
                <a:ea typeface="Microsoft YaHei"/>
                <a:cs typeface="Arial"/>
              </a:rPr>
              <a:t>部署交付</a:t>
            </a:r>
          </a:p>
        </p:txBody>
      </p:sp>
      <p:sp>
        <p:nvSpPr>
          <p:cNvPr id="18" name="TextBox 18"/>
          <p:cNvSpPr txBox="1"/>
          <p:nvPr/>
        </p:nvSpPr>
        <p:spPr>
          <a:xfrm>
            <a:off x="4652962" y="2355056"/>
            <a:ext cx="1431250" cy="228600"/>
          </a:xfrm>
          <a:prstGeom prst="rect">
            <a:avLst/>
          </a:prstGeom>
          <a:noFill/>
          <a:ln>
            <a:noFill/>
          </a:ln>
        </p:spPr>
        <p:txBody>
          <a:bodyPr wrap="none" lIns="0" tIns="0" rIns="0" bIns="0" anchor="t" anchorCtr="0">
            <a:spAutoFit/>
          </a:bodyPr>
          <a:lstStyle/>
          <a:p>
            <a:pPr algn="l"/>
            <a:r>
              <a:rPr lang="zh-CN" sz="1125" dirty="0">
                <a:solidFill>
                  <a:srgbClr val="E2E8F0"/>
                </a:solidFill>
                <a:latin typeface="Arial"/>
                <a:ea typeface="Microsoft YaHei"/>
                <a:cs typeface="Arial"/>
              </a:rPr>
              <a:t>Vercel 一键部署方案</a:t>
            </a:r>
          </a:p>
        </p:txBody>
      </p:sp>
      <p:sp>
        <p:nvSpPr>
          <p:cNvPr id="19" name="TextBox 19"/>
          <p:cNvSpPr txBox="1"/>
          <p:nvPr/>
        </p:nvSpPr>
        <p:spPr>
          <a:xfrm>
            <a:off x="4652962" y="2640806"/>
            <a:ext cx="1978819"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本地部署支持，提供部署文档</a:t>
            </a:r>
          </a:p>
        </p:txBody>
      </p:sp>
      <p:sp>
        <p:nvSpPr>
          <p:cNvPr id="20" name="TextBox 20"/>
          <p:cNvSpPr txBox="1"/>
          <p:nvPr/>
        </p:nvSpPr>
        <p:spPr>
          <a:xfrm>
            <a:off x="4652962" y="2926556"/>
            <a:ext cx="951190"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PWA 离线配置</a:t>
            </a:r>
          </a:p>
        </p:txBody>
      </p:sp>
      <p:sp>
        <p:nvSpPr>
          <p:cNvPr id="21" name="TextBox 21"/>
          <p:cNvSpPr txBox="1"/>
          <p:nvPr/>
        </p:nvSpPr>
        <p:spPr>
          <a:xfrm>
            <a:off x="4654868" y="3323749"/>
            <a:ext cx="785360"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 自己配环境</a:t>
            </a:r>
          </a:p>
        </p:txBody>
      </p:sp>
      <p:sp>
        <p:nvSpPr>
          <p:cNvPr id="22" name="Rectangle 22"/>
          <p:cNvSpPr/>
          <p:nvPr/>
        </p:nvSpPr>
        <p:spPr>
          <a:xfrm>
            <a:off x="8191500" y="1714500"/>
            <a:ext cx="3429000" cy="2190750"/>
          </a:xfrm>
          <a:prstGeom prst="roundRect">
            <a:avLst>
              <a:gd name="adj" fmla="val 5217"/>
            </a:avLst>
          </a:prstGeom>
          <a:solidFill>
            <a:srgbClr val="151B2D"/>
          </a:solidFill>
          <a:ln w="9525">
            <a:solidFill>
              <a:srgbClr val="1E293B"/>
            </a:solidFill>
          </a:ln>
        </p:spPr>
      </p:sp>
      <p:sp>
        <p:nvSpPr>
          <p:cNvPr id="23" name="Rectangle 23"/>
          <p:cNvSpPr/>
          <p:nvPr/>
        </p:nvSpPr>
        <p:spPr>
          <a:xfrm>
            <a:off x="8191500" y="1714500"/>
            <a:ext cx="57150" cy="2190750"/>
          </a:xfrm>
          <a:prstGeom prst="roundRect">
            <a:avLst>
              <a:gd name="adj" fmla="val 50000"/>
            </a:avLst>
          </a:prstGeom>
          <a:solidFill>
            <a:srgbClr val="F59E0B"/>
          </a:solidFill>
          <a:ln>
            <a:noFill/>
          </a:ln>
        </p:spPr>
      </p:sp>
      <p:sp>
        <p:nvSpPr>
          <p:cNvPr id="24" name="TextBox 24"/>
          <p:cNvSpPr txBox="1"/>
          <p:nvPr/>
        </p:nvSpPr>
        <p:spPr>
          <a:xfrm>
            <a:off x="8458200" y="1933575"/>
            <a:ext cx="878205" cy="304800"/>
          </a:xfrm>
          <a:prstGeom prst="rect">
            <a:avLst/>
          </a:prstGeom>
          <a:noFill/>
          <a:ln>
            <a:noFill/>
          </a:ln>
        </p:spPr>
        <p:txBody>
          <a:bodyPr wrap="none" lIns="0" tIns="0" rIns="0" bIns="0" anchor="t" anchorCtr="0">
            <a:spAutoFit/>
          </a:bodyPr>
          <a:lstStyle/>
          <a:p>
            <a:pPr algn="l"/>
            <a:r>
              <a:rPr lang="zh-CN" sz="1500" b="1" dirty="0">
                <a:solidFill>
                  <a:srgbClr val="F59E0B"/>
                </a:solidFill>
                <a:latin typeface="Arial"/>
                <a:ea typeface="Microsoft YaHei"/>
                <a:cs typeface="Arial"/>
              </a:rPr>
              <a:t>持续迭代</a:t>
            </a:r>
          </a:p>
        </p:txBody>
      </p:sp>
      <p:sp>
        <p:nvSpPr>
          <p:cNvPr id="25" name="TextBox 25"/>
          <p:cNvSpPr txBox="1"/>
          <p:nvPr/>
        </p:nvSpPr>
        <p:spPr>
          <a:xfrm>
            <a:off x="8462962" y="2355056"/>
            <a:ext cx="1078706" cy="228600"/>
          </a:xfrm>
          <a:prstGeom prst="rect">
            <a:avLst/>
          </a:prstGeom>
          <a:noFill/>
          <a:ln>
            <a:noFill/>
          </a:ln>
        </p:spPr>
        <p:txBody>
          <a:bodyPr wrap="none" lIns="0" tIns="0" rIns="0" bIns="0" anchor="t" anchorCtr="0">
            <a:spAutoFit/>
          </a:bodyPr>
          <a:lstStyle/>
          <a:p>
            <a:pPr algn="l"/>
            <a:r>
              <a:rPr lang="zh-CN" sz="1125" dirty="0">
                <a:solidFill>
                  <a:srgbClr val="E2E8F0"/>
                </a:solidFill>
                <a:latin typeface="Arial"/>
                <a:ea typeface="Microsoft YaHei"/>
                <a:cs typeface="Arial"/>
              </a:rPr>
              <a:t>创始人直接交付</a:t>
            </a:r>
          </a:p>
        </p:txBody>
      </p:sp>
      <p:sp>
        <p:nvSpPr>
          <p:cNvPr id="26" name="TextBox 26"/>
          <p:cNvSpPr txBox="1"/>
          <p:nvPr/>
        </p:nvSpPr>
        <p:spPr>
          <a:xfrm>
            <a:off x="8462962" y="2640806"/>
            <a:ext cx="1378744"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按场景需求定制功能</a:t>
            </a:r>
          </a:p>
        </p:txBody>
      </p:sp>
      <p:sp>
        <p:nvSpPr>
          <p:cNvPr id="27" name="TextBox 27"/>
          <p:cNvSpPr txBox="1"/>
          <p:nvPr/>
        </p:nvSpPr>
        <p:spPr>
          <a:xfrm>
            <a:off x="8462962" y="2926556"/>
            <a:ext cx="1078706"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模板包持续更新</a:t>
            </a:r>
          </a:p>
        </p:txBody>
      </p:sp>
      <p:sp>
        <p:nvSpPr>
          <p:cNvPr id="28" name="TextBox 28"/>
          <p:cNvSpPr txBox="1"/>
          <p:nvPr/>
        </p:nvSpPr>
        <p:spPr>
          <a:xfrm>
            <a:off x="8464868" y="3323749"/>
            <a:ext cx="785360"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 一次性交付</a:t>
            </a:r>
          </a:p>
        </p:txBody>
      </p:sp>
      <p:sp>
        <p:nvSpPr>
          <p:cNvPr id="29" name="Rectangle 29"/>
          <p:cNvSpPr/>
          <p:nvPr/>
        </p:nvSpPr>
        <p:spPr>
          <a:xfrm>
            <a:off x="571500" y="4191000"/>
            <a:ext cx="11049000" cy="1524000"/>
          </a:xfrm>
          <a:prstGeom prst="roundRect">
            <a:avLst>
              <a:gd name="adj" fmla="val 7500"/>
            </a:avLst>
          </a:prstGeom>
          <a:solidFill>
            <a:srgbClr val="151B2D"/>
          </a:solidFill>
          <a:ln w="9525">
            <a:solidFill>
              <a:srgbClr val="1E293B"/>
            </a:solidFill>
          </a:ln>
        </p:spPr>
      </p:sp>
      <p:sp>
        <p:nvSpPr>
          <p:cNvPr id="30" name="TextBox 30"/>
          <p:cNvSpPr txBox="1"/>
          <p:nvPr/>
        </p:nvSpPr>
        <p:spPr>
          <a:xfrm>
            <a:off x="842010" y="4442460"/>
            <a:ext cx="3502914"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开源 MIT 代码：任何人可 fork、可修改、可自用</a:t>
            </a:r>
          </a:p>
        </p:txBody>
      </p:sp>
      <p:sp>
        <p:nvSpPr>
          <p:cNvPr id="31" name="TextBox 31"/>
          <p:cNvSpPr txBox="1"/>
          <p:nvPr/>
        </p:nvSpPr>
        <p:spPr>
          <a:xfrm>
            <a:off x="838200" y="4791075"/>
            <a:ext cx="7178992" cy="304800"/>
          </a:xfrm>
          <a:prstGeom prst="rect">
            <a:avLst/>
          </a:prstGeom>
          <a:noFill/>
          <a:ln>
            <a:noFill/>
          </a:ln>
        </p:spPr>
        <p:txBody>
          <a:bodyPr wrap="none" lIns="0" tIns="0" rIns="0" bIns="0" anchor="t" anchorCtr="0">
            <a:spAutoFit/>
          </a:bodyPr>
          <a:lstStyle/>
          <a:p>
            <a:pPr algn="l"/>
            <a:r>
              <a:rPr lang="zh-CN" sz="1500" b="1" dirty="0">
                <a:solidFill>
                  <a:srgbClr val="E2E8F0"/>
                </a:solidFill>
                <a:latin typeface="Arial"/>
                <a:ea typeface="Microsoft YaHei"/>
                <a:cs typeface="Arial"/>
              </a:rPr>
              <a:t>本次拍卖使用权：买方获得的是可直接拿去招生、培训、变现的完整商业化包</a:t>
            </a:r>
          </a:p>
        </p:txBody>
      </p:sp>
      <p:sp>
        <p:nvSpPr>
          <p:cNvPr id="32" name="TextBox 32"/>
          <p:cNvSpPr txBox="1"/>
          <p:nvPr/>
        </p:nvSpPr>
        <p:spPr>
          <a:xfrm>
            <a:off x="842010" y="5204460"/>
            <a:ext cx="4991100" cy="243840"/>
          </a:xfrm>
          <a:prstGeom prst="rect">
            <a:avLst/>
          </a:prstGeom>
          <a:noFill/>
          <a:ln>
            <a:noFill/>
          </a:ln>
        </p:spPr>
        <p:txBody>
          <a:bodyPr wrap="none" lIns="0" tIns="0" rIns="0" bIns="0" anchor="t" anchorCtr="0">
            <a:spAutoFit/>
          </a:bodyPr>
          <a:lstStyle/>
          <a:p>
            <a:pPr algn="l"/>
            <a:r>
              <a:rPr lang="zh-CN" sz="1200" dirty="0">
                <a:solidFill>
                  <a:srgbClr val="F59E0B"/>
                </a:solidFill>
                <a:latin typeface="Arial"/>
                <a:ea typeface="Microsoft YaHei"/>
                <a:cs typeface="Arial"/>
              </a:rPr>
              <a:t>代码可自用，买方买的是已打包好的场景授权、部署交付和持续迭代。</a:t>
            </a:r>
          </a:p>
        </p:txBody>
      </p:sp>
      <p:sp>
        <p:nvSpPr>
          <p:cNvPr id="33" name="TextBox 33"/>
          <p:cNvSpPr txBox="1"/>
          <p:nvPr/>
        </p:nvSpPr>
        <p:spPr>
          <a:xfrm>
            <a:off x="11016520" y="6570345"/>
            <a:ext cx="424910" cy="182880"/>
          </a:xfrm>
          <a:prstGeom prst="rect">
            <a:avLst/>
          </a:prstGeom>
          <a:noFill/>
          <a:ln>
            <a:noFill/>
          </a:ln>
        </p:spPr>
        <p:txBody>
          <a:bodyPr wrap="none" lIns="0" tIns="0" rIns="0" bIns="0" anchor="t" anchorCtr="0">
            <a:spAutoFit/>
          </a:bodyPr>
          <a:lstStyle/>
          <a:p>
            <a:pPr algn="r"/>
            <a:r>
              <a:rPr lang="zh-CN" sz="900" dirty="0">
                <a:solidFill>
                  <a:srgbClr val="64748B"/>
                </a:solidFill>
                <a:latin typeface="Arial"/>
                <a:ea typeface="Microsoft YaHei"/>
                <a:cs typeface="Arial"/>
              </a:rPr>
              <a:t>05 / 09</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57150" cy="6858000"/>
          </a:xfrm>
          <a:prstGeom prst="rect">
            <a:avLst/>
          </a:prstGeom>
          <a:solidFill>
            <a:srgbClr val="3B82F6"/>
          </a:solidFill>
          <a:ln>
            <a:noFill/>
          </a:ln>
        </p:spPr>
      </p:sp>
      <p:sp>
        <p:nvSpPr>
          <p:cNvPr id="4" name="TextBox 4"/>
          <p:cNvSpPr txBox="1"/>
          <p:nvPr/>
        </p:nvSpPr>
        <p:spPr>
          <a:xfrm>
            <a:off x="537210" y="232410"/>
            <a:ext cx="4661854" cy="548640"/>
          </a:xfrm>
          <a:prstGeom prst="rect">
            <a:avLst/>
          </a:prstGeom>
          <a:noFill/>
          <a:ln>
            <a:noFill/>
          </a:ln>
        </p:spPr>
        <p:txBody>
          <a:bodyPr wrap="none" lIns="0" tIns="0" rIns="0" bIns="0" anchor="t" anchorCtr="0">
            <a:spAutoFit/>
          </a:bodyPr>
          <a:lstStyle/>
          <a:p>
            <a:pPr algn="l"/>
            <a:r>
              <a:rPr lang="zh-CN" sz="2700" b="1" dirty="0">
                <a:solidFill>
                  <a:srgbClr val="E2E8F0"/>
                </a:solidFill>
                <a:latin typeface="Arial"/>
                <a:ea typeface="Microsoft YaHei"/>
                <a:cs typeface="Arial"/>
              </a:rPr>
              <a:t>商业化场景 — 买方怎么变现</a:t>
            </a:r>
          </a:p>
        </p:txBody>
      </p:sp>
      <p:sp>
        <p:nvSpPr>
          <p:cNvPr id="5" name="Rectangle 5"/>
          <p:cNvSpPr/>
          <p:nvPr/>
        </p:nvSpPr>
        <p:spPr>
          <a:xfrm>
            <a:off x="571500" y="647700"/>
            <a:ext cx="4572000" cy="28575"/>
          </a:xfrm>
          <a:prstGeom prst="rect">
            <a:avLst/>
          </a:prstGeom>
          <a:solidFill>
            <a:srgbClr val="3B82F6"/>
          </a:solidFill>
          <a:ln>
            <a:noFill/>
          </a:ln>
        </p:spPr>
      </p:sp>
      <p:sp>
        <p:nvSpPr>
          <p:cNvPr id="6" name="Rectangle 6"/>
          <p:cNvSpPr/>
          <p:nvPr/>
        </p:nvSpPr>
        <p:spPr>
          <a:xfrm>
            <a:off x="571500" y="1047750"/>
            <a:ext cx="5191125" cy="2428875"/>
          </a:xfrm>
          <a:prstGeom prst="roundRect">
            <a:avLst>
              <a:gd name="adj" fmla="val 4706"/>
            </a:avLst>
          </a:prstGeom>
          <a:solidFill>
            <a:srgbClr val="151B2D"/>
          </a:solidFill>
          <a:ln w="9525">
            <a:solidFill>
              <a:srgbClr val="1E293B"/>
            </a:solidFill>
          </a:ln>
        </p:spPr>
      </p:sp>
      <p:sp>
        <p:nvSpPr>
          <p:cNvPr id="7" name="Rectangle 7"/>
          <p:cNvSpPr/>
          <p:nvPr/>
        </p:nvSpPr>
        <p:spPr>
          <a:xfrm>
            <a:off x="571500" y="1047750"/>
            <a:ext cx="57150" cy="2428875"/>
          </a:xfrm>
          <a:prstGeom prst="roundRect">
            <a:avLst>
              <a:gd name="adj" fmla="val 50000"/>
            </a:avLst>
          </a:prstGeom>
          <a:solidFill>
            <a:srgbClr val="3B82F6"/>
          </a:solidFill>
          <a:ln>
            <a:noFill/>
          </a:ln>
        </p:spPr>
      </p:sp>
      <p:sp>
        <p:nvSpPr>
          <p:cNvPr id="8" name="TextBox 8"/>
          <p:cNvSpPr txBox="1"/>
          <p:nvPr/>
        </p:nvSpPr>
        <p:spPr>
          <a:xfrm>
            <a:off x="838200" y="1266825"/>
            <a:ext cx="1749814" cy="304800"/>
          </a:xfrm>
          <a:prstGeom prst="rect">
            <a:avLst/>
          </a:prstGeom>
          <a:noFill/>
          <a:ln>
            <a:noFill/>
          </a:ln>
        </p:spPr>
        <p:txBody>
          <a:bodyPr wrap="none" lIns="0" tIns="0" rIns="0" bIns="0" anchor="t" anchorCtr="0">
            <a:spAutoFit/>
          </a:bodyPr>
          <a:lstStyle/>
          <a:p>
            <a:pPr algn="l"/>
            <a:r>
              <a:rPr lang="zh-CN" sz="1500" b="1" dirty="0">
                <a:solidFill>
                  <a:srgbClr val="3B82F6"/>
                </a:solidFill>
                <a:latin typeface="Arial"/>
                <a:ea typeface="Microsoft YaHei"/>
                <a:cs typeface="Arial"/>
              </a:rPr>
              <a:t>高校课程 / 黑客松</a:t>
            </a:r>
          </a:p>
        </p:txBody>
      </p:sp>
      <p:sp>
        <p:nvSpPr>
          <p:cNvPr id="9" name="TextBox 9"/>
          <p:cNvSpPr txBox="1"/>
          <p:nvPr/>
        </p:nvSpPr>
        <p:spPr>
          <a:xfrm>
            <a:off x="842962" y="1688306"/>
            <a:ext cx="1401247" cy="228600"/>
          </a:xfrm>
          <a:prstGeom prst="rect">
            <a:avLst/>
          </a:prstGeom>
          <a:noFill/>
          <a:ln>
            <a:noFill/>
          </a:ln>
        </p:spPr>
        <p:txBody>
          <a:bodyPr wrap="none" lIns="0" tIns="0" rIns="0" bIns="0" anchor="t" anchorCtr="0">
            <a:spAutoFit/>
          </a:bodyPr>
          <a:lstStyle/>
          <a:p>
            <a:pPr algn="l"/>
            <a:r>
              <a:rPr lang="zh-CN" sz="1125" dirty="0">
                <a:solidFill>
                  <a:srgbClr val="E2E8F0"/>
                </a:solidFill>
                <a:latin typeface="Arial"/>
                <a:ea typeface="Microsoft YaHei"/>
                <a:cs typeface="Arial"/>
              </a:rPr>
              <a:t>对象：学生 / 参赛者</a:t>
            </a:r>
          </a:p>
        </p:txBody>
      </p:sp>
      <p:sp>
        <p:nvSpPr>
          <p:cNvPr id="10" name="TextBox 10"/>
          <p:cNvSpPr txBox="1"/>
          <p:nvPr/>
        </p:nvSpPr>
        <p:spPr>
          <a:xfrm>
            <a:off x="842962" y="1974056"/>
            <a:ext cx="2541389"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痛点：作业停在"想"，48h做不出原型</a:t>
            </a:r>
          </a:p>
        </p:txBody>
      </p:sp>
      <p:sp>
        <p:nvSpPr>
          <p:cNvPr id="11" name="TextBox 11"/>
          <p:cNvSpPr txBox="1"/>
          <p:nvPr/>
        </p:nvSpPr>
        <p:spPr>
          <a:xfrm>
            <a:off x="842962" y="2259806"/>
            <a:ext cx="2301359"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变现：按学生数 / 课程数订阅收费</a:t>
            </a:r>
          </a:p>
        </p:txBody>
      </p:sp>
      <p:sp>
        <p:nvSpPr>
          <p:cNvPr id="12" name="TextBox 12"/>
          <p:cNvSpPr txBox="1"/>
          <p:nvPr/>
        </p:nvSpPr>
        <p:spPr>
          <a:xfrm>
            <a:off x="843915" y="2744152"/>
            <a:ext cx="1846898"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把学生从想法推到可展示作品</a:t>
            </a:r>
          </a:p>
        </p:txBody>
      </p:sp>
      <p:sp>
        <p:nvSpPr>
          <p:cNvPr id="13" name="Rectangle 13"/>
          <p:cNvSpPr/>
          <p:nvPr/>
        </p:nvSpPr>
        <p:spPr>
          <a:xfrm>
            <a:off x="6048375" y="1047750"/>
            <a:ext cx="5191125" cy="2428875"/>
          </a:xfrm>
          <a:prstGeom prst="roundRect">
            <a:avLst>
              <a:gd name="adj" fmla="val 4706"/>
            </a:avLst>
          </a:prstGeom>
          <a:solidFill>
            <a:srgbClr val="151B2D"/>
          </a:solidFill>
          <a:ln w="9525">
            <a:solidFill>
              <a:srgbClr val="1E293B"/>
            </a:solidFill>
          </a:ln>
        </p:spPr>
      </p:sp>
      <p:sp>
        <p:nvSpPr>
          <p:cNvPr id="14" name="Rectangle 14"/>
          <p:cNvSpPr/>
          <p:nvPr/>
        </p:nvSpPr>
        <p:spPr>
          <a:xfrm>
            <a:off x="6048375" y="1047750"/>
            <a:ext cx="57150" cy="2428875"/>
          </a:xfrm>
          <a:prstGeom prst="roundRect">
            <a:avLst>
              <a:gd name="adj" fmla="val 50000"/>
            </a:avLst>
          </a:prstGeom>
          <a:solidFill>
            <a:srgbClr val="10B981"/>
          </a:solidFill>
          <a:ln>
            <a:noFill/>
          </a:ln>
        </p:spPr>
      </p:sp>
      <p:sp>
        <p:nvSpPr>
          <p:cNvPr id="15" name="TextBox 15"/>
          <p:cNvSpPr txBox="1"/>
          <p:nvPr/>
        </p:nvSpPr>
        <p:spPr>
          <a:xfrm>
            <a:off x="6315075" y="1266825"/>
            <a:ext cx="1088231" cy="304800"/>
          </a:xfrm>
          <a:prstGeom prst="rect">
            <a:avLst/>
          </a:prstGeom>
          <a:noFill/>
          <a:ln>
            <a:noFill/>
          </a:ln>
        </p:spPr>
        <p:txBody>
          <a:bodyPr wrap="none" lIns="0" tIns="0" rIns="0" bIns="0" anchor="t" anchorCtr="0">
            <a:spAutoFit/>
          </a:bodyPr>
          <a:lstStyle/>
          <a:p>
            <a:pPr algn="l"/>
            <a:r>
              <a:rPr lang="zh-CN" sz="1500" b="1" dirty="0">
                <a:solidFill>
                  <a:srgbClr val="10B981"/>
                </a:solidFill>
                <a:latin typeface="Arial"/>
                <a:ea typeface="Microsoft YaHei"/>
                <a:cs typeface="Arial"/>
              </a:rPr>
              <a:t>求职训练营</a:t>
            </a:r>
          </a:p>
        </p:txBody>
      </p:sp>
      <p:sp>
        <p:nvSpPr>
          <p:cNvPr id="16" name="TextBox 16"/>
          <p:cNvSpPr txBox="1"/>
          <p:nvPr/>
        </p:nvSpPr>
        <p:spPr>
          <a:xfrm>
            <a:off x="6319838" y="1688306"/>
            <a:ext cx="1551265" cy="228600"/>
          </a:xfrm>
          <a:prstGeom prst="rect">
            <a:avLst/>
          </a:prstGeom>
          <a:noFill/>
          <a:ln>
            <a:noFill/>
          </a:ln>
        </p:spPr>
        <p:txBody>
          <a:bodyPr wrap="none" lIns="0" tIns="0" rIns="0" bIns="0" anchor="t" anchorCtr="0">
            <a:spAutoFit/>
          </a:bodyPr>
          <a:lstStyle/>
          <a:p>
            <a:pPr algn="l"/>
            <a:r>
              <a:rPr lang="zh-CN" sz="1125" dirty="0">
                <a:solidFill>
                  <a:srgbClr val="E2E8F0"/>
                </a:solidFill>
                <a:latin typeface="Arial"/>
                <a:ea typeface="Microsoft YaHei"/>
                <a:cs typeface="Arial"/>
              </a:rPr>
              <a:t>对象：求职者 / 转行者</a:t>
            </a:r>
          </a:p>
        </p:txBody>
      </p:sp>
      <p:sp>
        <p:nvSpPr>
          <p:cNvPr id="17" name="TextBox 17"/>
          <p:cNvSpPr txBox="1"/>
          <p:nvPr/>
        </p:nvSpPr>
        <p:spPr>
          <a:xfrm>
            <a:off x="6319838" y="1974056"/>
            <a:ext cx="1978819"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痛点：简历写了三个月还没发</a:t>
            </a:r>
          </a:p>
        </p:txBody>
      </p:sp>
      <p:sp>
        <p:nvSpPr>
          <p:cNvPr id="18" name="TextBox 18"/>
          <p:cNvSpPr txBox="1"/>
          <p:nvPr/>
        </p:nvSpPr>
        <p:spPr>
          <a:xfrm>
            <a:off x="6319838" y="2259806"/>
            <a:ext cx="2301359"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变现：按训练营期数 / 学员数收费</a:t>
            </a:r>
          </a:p>
        </p:txBody>
      </p:sp>
      <p:sp>
        <p:nvSpPr>
          <p:cNvPr id="19" name="TextBox 19"/>
          <p:cNvSpPr txBox="1"/>
          <p:nvPr/>
        </p:nvSpPr>
        <p:spPr>
          <a:xfrm>
            <a:off x="6320790" y="2744152"/>
            <a:ext cx="2126932"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简历、作品集、面试项目限时完成</a:t>
            </a:r>
          </a:p>
        </p:txBody>
      </p:sp>
      <p:sp>
        <p:nvSpPr>
          <p:cNvPr id="20" name="Rectangle 20"/>
          <p:cNvSpPr/>
          <p:nvPr/>
        </p:nvSpPr>
        <p:spPr>
          <a:xfrm>
            <a:off x="571500" y="3762375"/>
            <a:ext cx="5191125" cy="2428875"/>
          </a:xfrm>
          <a:prstGeom prst="roundRect">
            <a:avLst>
              <a:gd name="adj" fmla="val 4706"/>
            </a:avLst>
          </a:prstGeom>
          <a:solidFill>
            <a:srgbClr val="151B2D"/>
          </a:solidFill>
          <a:ln w="9525">
            <a:solidFill>
              <a:srgbClr val="1E293B"/>
            </a:solidFill>
          </a:ln>
        </p:spPr>
      </p:sp>
      <p:sp>
        <p:nvSpPr>
          <p:cNvPr id="21" name="Rectangle 21"/>
          <p:cNvSpPr/>
          <p:nvPr/>
        </p:nvSpPr>
        <p:spPr>
          <a:xfrm>
            <a:off x="571500" y="3762375"/>
            <a:ext cx="57150" cy="2428875"/>
          </a:xfrm>
          <a:prstGeom prst="roundRect">
            <a:avLst>
              <a:gd name="adj" fmla="val 50000"/>
            </a:avLst>
          </a:prstGeom>
          <a:solidFill>
            <a:srgbClr val="F59E0B"/>
          </a:solidFill>
          <a:ln>
            <a:noFill/>
          </a:ln>
        </p:spPr>
      </p:sp>
      <p:sp>
        <p:nvSpPr>
          <p:cNvPr id="22" name="TextBox 22"/>
          <p:cNvSpPr txBox="1"/>
          <p:nvPr/>
        </p:nvSpPr>
        <p:spPr>
          <a:xfrm>
            <a:off x="838200" y="3981450"/>
            <a:ext cx="1088231" cy="304800"/>
          </a:xfrm>
          <a:prstGeom prst="rect">
            <a:avLst/>
          </a:prstGeom>
          <a:noFill/>
          <a:ln>
            <a:noFill/>
          </a:ln>
        </p:spPr>
        <p:txBody>
          <a:bodyPr wrap="none" lIns="0" tIns="0" rIns="0" bIns="0" anchor="t" anchorCtr="0">
            <a:spAutoFit/>
          </a:bodyPr>
          <a:lstStyle/>
          <a:p>
            <a:pPr algn="l"/>
            <a:r>
              <a:rPr lang="zh-CN" sz="1500" b="1" dirty="0">
                <a:solidFill>
                  <a:srgbClr val="F59E0B"/>
                </a:solidFill>
                <a:latin typeface="Arial"/>
                <a:ea typeface="Microsoft YaHei"/>
                <a:cs typeface="Arial"/>
              </a:rPr>
              <a:t>企业创新营</a:t>
            </a:r>
          </a:p>
        </p:txBody>
      </p:sp>
      <p:sp>
        <p:nvSpPr>
          <p:cNvPr id="23" name="TextBox 23"/>
          <p:cNvSpPr txBox="1"/>
          <p:nvPr/>
        </p:nvSpPr>
        <p:spPr>
          <a:xfrm>
            <a:off x="842962" y="4402931"/>
            <a:ext cx="1851303" cy="228600"/>
          </a:xfrm>
          <a:prstGeom prst="rect">
            <a:avLst/>
          </a:prstGeom>
          <a:noFill/>
          <a:ln>
            <a:noFill/>
          </a:ln>
        </p:spPr>
        <p:txBody>
          <a:bodyPr wrap="none" lIns="0" tIns="0" rIns="0" bIns="0" anchor="t" anchorCtr="0">
            <a:spAutoFit/>
          </a:bodyPr>
          <a:lstStyle/>
          <a:p>
            <a:pPr algn="l"/>
            <a:r>
              <a:rPr lang="zh-CN" sz="1125" dirty="0">
                <a:solidFill>
                  <a:srgbClr val="E2E8F0"/>
                </a:solidFill>
                <a:latin typeface="Arial"/>
                <a:ea typeface="Microsoft YaHei"/>
                <a:cs typeface="Arial"/>
              </a:rPr>
              <a:t>对象：企业员工 / 创新部门</a:t>
            </a:r>
          </a:p>
        </p:txBody>
      </p:sp>
      <p:sp>
        <p:nvSpPr>
          <p:cNvPr id="24" name="TextBox 24"/>
          <p:cNvSpPr txBox="1"/>
          <p:nvPr/>
        </p:nvSpPr>
        <p:spPr>
          <a:xfrm>
            <a:off x="842962" y="4688681"/>
            <a:ext cx="2053828"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痛点：内部 idea 永远停在 PPT</a:t>
            </a:r>
          </a:p>
        </p:txBody>
      </p:sp>
      <p:sp>
        <p:nvSpPr>
          <p:cNvPr id="25" name="TextBox 25"/>
          <p:cNvSpPr txBox="1"/>
          <p:nvPr/>
        </p:nvSpPr>
        <p:spPr>
          <a:xfrm>
            <a:off x="842962" y="4974431"/>
            <a:ext cx="2001322"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变现：按企业 / 期数授权收费</a:t>
            </a:r>
          </a:p>
        </p:txBody>
      </p:sp>
      <p:sp>
        <p:nvSpPr>
          <p:cNvPr id="26" name="TextBox 26"/>
          <p:cNvSpPr txBox="1"/>
          <p:nvPr/>
        </p:nvSpPr>
        <p:spPr>
          <a:xfrm>
            <a:off x="843915" y="5458778"/>
            <a:ext cx="1986915"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半天工作坊产出可演示原型方案</a:t>
            </a:r>
          </a:p>
        </p:txBody>
      </p:sp>
      <p:sp>
        <p:nvSpPr>
          <p:cNvPr id="27" name="Rectangle 27"/>
          <p:cNvSpPr/>
          <p:nvPr/>
        </p:nvSpPr>
        <p:spPr>
          <a:xfrm>
            <a:off x="6048375" y="3762375"/>
            <a:ext cx="5191125" cy="2428875"/>
          </a:xfrm>
          <a:prstGeom prst="roundRect">
            <a:avLst>
              <a:gd name="adj" fmla="val 4706"/>
            </a:avLst>
          </a:prstGeom>
          <a:solidFill>
            <a:srgbClr val="151B2D"/>
          </a:solidFill>
          <a:ln w="9525">
            <a:solidFill>
              <a:srgbClr val="1E293B"/>
            </a:solidFill>
          </a:ln>
        </p:spPr>
      </p:sp>
      <p:sp>
        <p:nvSpPr>
          <p:cNvPr id="28" name="Rectangle 28"/>
          <p:cNvSpPr/>
          <p:nvPr/>
        </p:nvSpPr>
        <p:spPr>
          <a:xfrm>
            <a:off x="6048375" y="3762375"/>
            <a:ext cx="57150" cy="2428875"/>
          </a:xfrm>
          <a:prstGeom prst="roundRect">
            <a:avLst>
              <a:gd name="adj" fmla="val 50000"/>
            </a:avLst>
          </a:prstGeom>
          <a:solidFill>
            <a:srgbClr val="EF4444"/>
          </a:solidFill>
          <a:ln>
            <a:noFill/>
          </a:ln>
        </p:spPr>
      </p:sp>
      <p:sp>
        <p:nvSpPr>
          <p:cNvPr id="29" name="TextBox 29"/>
          <p:cNvSpPr txBox="1"/>
          <p:nvPr/>
        </p:nvSpPr>
        <p:spPr>
          <a:xfrm>
            <a:off x="6315075" y="3981450"/>
            <a:ext cx="1088231" cy="304800"/>
          </a:xfrm>
          <a:prstGeom prst="rect">
            <a:avLst/>
          </a:prstGeom>
          <a:noFill/>
          <a:ln>
            <a:noFill/>
          </a:ln>
        </p:spPr>
        <p:txBody>
          <a:bodyPr wrap="none" lIns="0" tIns="0" rIns="0" bIns="0" anchor="t" anchorCtr="0">
            <a:spAutoFit/>
          </a:bodyPr>
          <a:lstStyle/>
          <a:p>
            <a:pPr algn="l"/>
            <a:r>
              <a:rPr lang="zh-CN" sz="1500" b="1" dirty="0">
                <a:solidFill>
                  <a:srgbClr val="EF4444"/>
                </a:solidFill>
                <a:latin typeface="Arial"/>
                <a:ea typeface="Microsoft YaHei"/>
                <a:cs typeface="Arial"/>
              </a:rPr>
              <a:t>创作者社群</a:t>
            </a:r>
          </a:p>
        </p:txBody>
      </p:sp>
      <p:sp>
        <p:nvSpPr>
          <p:cNvPr id="30" name="TextBox 30"/>
          <p:cNvSpPr txBox="1"/>
          <p:nvPr/>
        </p:nvSpPr>
        <p:spPr>
          <a:xfrm>
            <a:off x="6319838" y="4402931"/>
            <a:ext cx="2173843" cy="228600"/>
          </a:xfrm>
          <a:prstGeom prst="rect">
            <a:avLst/>
          </a:prstGeom>
          <a:noFill/>
          <a:ln>
            <a:noFill/>
          </a:ln>
        </p:spPr>
        <p:txBody>
          <a:bodyPr wrap="none" lIns="0" tIns="0" rIns="0" bIns="0" anchor="t" anchorCtr="0">
            <a:spAutoFit/>
          </a:bodyPr>
          <a:lstStyle/>
          <a:p>
            <a:pPr algn="l"/>
            <a:r>
              <a:rPr lang="zh-CN" sz="1125" dirty="0">
                <a:solidFill>
                  <a:srgbClr val="E2E8F0"/>
                </a:solidFill>
                <a:latin typeface="Arial"/>
                <a:ea typeface="Microsoft YaHei"/>
                <a:cs typeface="Arial"/>
              </a:rPr>
              <a:t>对象：博主 / 写手 / 视频创作者</a:t>
            </a:r>
          </a:p>
        </p:txBody>
      </p:sp>
      <p:sp>
        <p:nvSpPr>
          <p:cNvPr id="31" name="TextBox 31"/>
          <p:cNvSpPr txBox="1"/>
          <p:nvPr/>
        </p:nvSpPr>
        <p:spPr>
          <a:xfrm>
            <a:off x="6319838" y="4688681"/>
            <a:ext cx="1528762"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痛点：选题想了两个月</a:t>
            </a:r>
          </a:p>
        </p:txBody>
      </p:sp>
      <p:sp>
        <p:nvSpPr>
          <p:cNvPr id="32" name="TextBox 32"/>
          <p:cNvSpPr txBox="1"/>
          <p:nvPr/>
        </p:nvSpPr>
        <p:spPr>
          <a:xfrm>
            <a:off x="6319838" y="4974431"/>
            <a:ext cx="2151340"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变现：按社群会员数 / 期数订阅</a:t>
            </a:r>
          </a:p>
        </p:txBody>
      </p:sp>
      <p:sp>
        <p:nvSpPr>
          <p:cNvPr id="33" name="TextBox 33"/>
          <p:cNvSpPr txBox="1"/>
          <p:nvPr/>
        </p:nvSpPr>
        <p:spPr>
          <a:xfrm>
            <a:off x="6320790" y="5458778"/>
            <a:ext cx="1706880"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脚本、大纲、初稿限时产出</a:t>
            </a:r>
          </a:p>
        </p:txBody>
      </p:sp>
      <p:sp>
        <p:nvSpPr>
          <p:cNvPr id="34" name="TextBox 34"/>
          <p:cNvSpPr txBox="1"/>
          <p:nvPr/>
        </p:nvSpPr>
        <p:spPr>
          <a:xfrm>
            <a:off x="11016520" y="6570345"/>
            <a:ext cx="424910" cy="182880"/>
          </a:xfrm>
          <a:prstGeom prst="rect">
            <a:avLst/>
          </a:prstGeom>
          <a:noFill/>
          <a:ln>
            <a:noFill/>
          </a:ln>
        </p:spPr>
        <p:txBody>
          <a:bodyPr wrap="none" lIns="0" tIns="0" rIns="0" bIns="0" anchor="t" anchorCtr="0">
            <a:spAutoFit/>
          </a:bodyPr>
          <a:lstStyle/>
          <a:p>
            <a:pPr algn="r"/>
            <a:r>
              <a:rPr lang="zh-CN" sz="900" dirty="0">
                <a:solidFill>
                  <a:srgbClr val="64748B"/>
                </a:solidFill>
                <a:latin typeface="Arial"/>
                <a:ea typeface="Microsoft YaHei"/>
                <a:cs typeface="Arial"/>
              </a:rPr>
              <a:t>06 / 09</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57150" cy="6858000"/>
          </a:xfrm>
          <a:prstGeom prst="rect">
            <a:avLst/>
          </a:prstGeom>
          <a:solidFill>
            <a:srgbClr val="3B82F6"/>
          </a:solidFill>
          <a:ln>
            <a:noFill/>
          </a:ln>
        </p:spPr>
      </p:sp>
      <p:sp>
        <p:nvSpPr>
          <p:cNvPr id="4" name="TextBox 4"/>
          <p:cNvSpPr txBox="1"/>
          <p:nvPr/>
        </p:nvSpPr>
        <p:spPr>
          <a:xfrm>
            <a:off x="537210" y="232410"/>
            <a:ext cx="6476481" cy="548640"/>
          </a:xfrm>
          <a:prstGeom prst="rect">
            <a:avLst/>
          </a:prstGeom>
          <a:noFill/>
          <a:ln>
            <a:noFill/>
          </a:ln>
        </p:spPr>
        <p:txBody>
          <a:bodyPr wrap="none" lIns="0" tIns="0" rIns="0" bIns="0" anchor="t" anchorCtr="0">
            <a:spAutoFit/>
          </a:bodyPr>
          <a:lstStyle/>
          <a:p>
            <a:pPr algn="l"/>
            <a:r>
              <a:rPr lang="zh-CN" sz="2700" b="1" dirty="0">
                <a:solidFill>
                  <a:srgbClr val="E2E8F0"/>
                </a:solidFill>
                <a:latin typeface="Arial"/>
                <a:ea typeface="Microsoft YaHei"/>
                <a:cs typeface="Arial"/>
              </a:rPr>
              <a:t>竞争优势 — 为什么买你不是买 prompt</a:t>
            </a:r>
          </a:p>
        </p:txBody>
      </p:sp>
      <p:sp>
        <p:nvSpPr>
          <p:cNvPr id="5" name="Rectangle 5"/>
          <p:cNvSpPr/>
          <p:nvPr/>
        </p:nvSpPr>
        <p:spPr>
          <a:xfrm>
            <a:off x="571500" y="647700"/>
            <a:ext cx="5334000" cy="28575"/>
          </a:xfrm>
          <a:prstGeom prst="rect">
            <a:avLst/>
          </a:prstGeom>
          <a:solidFill>
            <a:srgbClr val="3B82F6"/>
          </a:solidFill>
          <a:ln>
            <a:noFill/>
          </a:ln>
        </p:spPr>
      </p:sp>
      <p:sp>
        <p:nvSpPr>
          <p:cNvPr id="6" name="Rectangle 6"/>
          <p:cNvSpPr/>
          <p:nvPr/>
        </p:nvSpPr>
        <p:spPr>
          <a:xfrm>
            <a:off x="571500" y="952500"/>
            <a:ext cx="11049000" cy="952500"/>
          </a:xfrm>
          <a:prstGeom prst="roundRect">
            <a:avLst>
              <a:gd name="adj" fmla="val 12000"/>
            </a:avLst>
          </a:prstGeom>
          <a:solidFill>
            <a:srgbClr val="151B2D"/>
          </a:solidFill>
          <a:ln w="19050">
            <a:solidFill>
              <a:srgbClr val="F59E0B"/>
            </a:solidFill>
          </a:ln>
        </p:spPr>
      </p:sp>
      <p:sp>
        <p:nvSpPr>
          <p:cNvPr id="7" name="TextBox 7"/>
          <p:cNvSpPr txBox="1"/>
          <p:nvPr/>
        </p:nvSpPr>
        <p:spPr>
          <a:xfrm>
            <a:off x="2717311" y="1297305"/>
            <a:ext cx="6757378" cy="426720"/>
          </a:xfrm>
          <a:prstGeom prst="rect">
            <a:avLst/>
          </a:prstGeom>
          <a:noFill/>
          <a:ln>
            <a:noFill/>
          </a:ln>
        </p:spPr>
        <p:txBody>
          <a:bodyPr wrap="none" lIns="0" tIns="0" rIns="0" bIns="0" anchor="t" anchorCtr="0">
            <a:spAutoFit/>
          </a:bodyPr>
          <a:lstStyle/>
          <a:p>
            <a:pPr algn="ctr"/>
            <a:r>
              <a:rPr lang="zh-CN" sz="2100" b="1" dirty="0">
                <a:solidFill>
                  <a:srgbClr val="F59E0B"/>
                </a:solidFill>
                <a:latin typeface="Arial"/>
                <a:ea typeface="Microsoft YaHei"/>
                <a:cs typeface="Arial"/>
              </a:rPr>
              <a:t>Prompt 只能给建议，破冰协议负责把人推到交付。</a:t>
            </a:r>
          </a:p>
        </p:txBody>
      </p:sp>
      <p:sp>
        <p:nvSpPr>
          <p:cNvPr id="8" name="Rectangle 8"/>
          <p:cNvSpPr/>
          <p:nvPr/>
        </p:nvSpPr>
        <p:spPr>
          <a:xfrm>
            <a:off x="571500" y="2190750"/>
            <a:ext cx="5191125" cy="2667000"/>
          </a:xfrm>
          <a:prstGeom prst="roundRect">
            <a:avLst>
              <a:gd name="adj" fmla="val 4286"/>
            </a:avLst>
          </a:prstGeom>
          <a:solidFill>
            <a:srgbClr val="151B2D"/>
          </a:solidFill>
          <a:ln w="9525">
            <a:solidFill>
              <a:srgbClr val="1E293B"/>
            </a:solidFill>
          </a:ln>
        </p:spPr>
      </p:sp>
      <p:sp>
        <p:nvSpPr>
          <p:cNvPr id="9" name="TextBox 9"/>
          <p:cNvSpPr txBox="1"/>
          <p:nvPr/>
        </p:nvSpPr>
        <p:spPr>
          <a:xfrm>
            <a:off x="840105" y="2426018"/>
            <a:ext cx="2321476" cy="274320"/>
          </a:xfrm>
          <a:prstGeom prst="rect">
            <a:avLst/>
          </a:prstGeom>
          <a:noFill/>
          <a:ln>
            <a:noFill/>
          </a:ln>
        </p:spPr>
        <p:txBody>
          <a:bodyPr wrap="none" lIns="0" tIns="0" rIns="0" bIns="0" anchor="t" anchorCtr="0">
            <a:spAutoFit/>
          </a:bodyPr>
          <a:lstStyle/>
          <a:p>
            <a:pPr algn="l"/>
            <a:r>
              <a:rPr lang="zh-CN" sz="1350" b="1" dirty="0">
                <a:solidFill>
                  <a:srgbClr val="EF4444"/>
                </a:solidFill>
                <a:latin typeface="Arial"/>
                <a:ea typeface="Microsoft YaHei"/>
                <a:cs typeface="Arial"/>
              </a:rPr>
              <a:t>买一个 prompt 能复制的：</a:t>
            </a:r>
          </a:p>
        </p:txBody>
      </p:sp>
      <p:sp>
        <p:nvSpPr>
          <p:cNvPr id="10" name="TextBox 10"/>
          <p:cNvSpPr txBox="1"/>
          <p:nvPr/>
        </p:nvSpPr>
        <p:spPr>
          <a:xfrm>
            <a:off x="842010" y="2823210"/>
            <a:ext cx="1950720"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语气、风格、单轮拆解逻辑</a:t>
            </a:r>
          </a:p>
        </p:txBody>
      </p:sp>
      <p:sp>
        <p:nvSpPr>
          <p:cNvPr id="11" name="TextBox 11"/>
          <p:cNvSpPr txBox="1"/>
          <p:nvPr/>
        </p:nvSpPr>
        <p:spPr>
          <a:xfrm>
            <a:off x="842010" y="3156585"/>
            <a:ext cx="990600"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静态文本模板</a:t>
            </a:r>
          </a:p>
        </p:txBody>
      </p:sp>
      <p:sp>
        <p:nvSpPr>
          <p:cNvPr id="12" name="TextBox 12"/>
          <p:cNvSpPr txBox="1"/>
          <p:nvPr/>
        </p:nvSpPr>
        <p:spPr>
          <a:xfrm>
            <a:off x="842010" y="3489960"/>
            <a:ext cx="1630680"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需要用户自己组织执行</a:t>
            </a:r>
          </a:p>
        </p:txBody>
      </p:sp>
      <p:sp>
        <p:nvSpPr>
          <p:cNvPr id="13" name="TextBox 13"/>
          <p:cNvSpPr txBox="1"/>
          <p:nvPr/>
        </p:nvSpPr>
        <p:spPr>
          <a:xfrm>
            <a:off x="842962" y="3974306"/>
            <a:ext cx="2728912" cy="228600"/>
          </a:xfrm>
          <a:prstGeom prst="rect">
            <a:avLst/>
          </a:prstGeom>
          <a:noFill/>
          <a:ln>
            <a:noFill/>
          </a:ln>
        </p:spPr>
        <p:txBody>
          <a:bodyPr wrap="none" lIns="0" tIns="0" rIns="0" bIns="0" anchor="t" anchorCtr="0">
            <a:spAutoFit/>
          </a:bodyPr>
          <a:lstStyle/>
          <a:p>
            <a:pPr algn="l"/>
            <a:r>
              <a:rPr lang="zh-CN" sz="1125" dirty="0">
                <a:solidFill>
                  <a:srgbClr val="64748B"/>
                </a:solidFill>
                <a:latin typeface="Arial"/>
                <a:ea typeface="Microsoft YaHei"/>
                <a:cs typeface="Arial"/>
              </a:rPr>
              <a:t>结论：prompt 只是"知道"，不是"做到"</a:t>
            </a:r>
          </a:p>
        </p:txBody>
      </p:sp>
      <p:sp>
        <p:nvSpPr>
          <p:cNvPr id="14" name="Rectangle 14"/>
          <p:cNvSpPr/>
          <p:nvPr/>
        </p:nvSpPr>
        <p:spPr>
          <a:xfrm>
            <a:off x="6048375" y="2190750"/>
            <a:ext cx="5191125" cy="2667000"/>
          </a:xfrm>
          <a:prstGeom prst="roundRect">
            <a:avLst>
              <a:gd name="adj" fmla="val 4286"/>
            </a:avLst>
          </a:prstGeom>
          <a:solidFill>
            <a:srgbClr val="151B2D"/>
          </a:solidFill>
          <a:ln w="9525">
            <a:solidFill>
              <a:srgbClr val="1E293B"/>
            </a:solidFill>
          </a:ln>
        </p:spPr>
      </p:sp>
      <p:sp>
        <p:nvSpPr>
          <p:cNvPr id="15" name="Rectangle 15"/>
          <p:cNvSpPr/>
          <p:nvPr/>
        </p:nvSpPr>
        <p:spPr>
          <a:xfrm>
            <a:off x="6048375" y="2190750"/>
            <a:ext cx="57150" cy="2667000"/>
          </a:xfrm>
          <a:prstGeom prst="roundRect">
            <a:avLst>
              <a:gd name="adj" fmla="val 50000"/>
            </a:avLst>
          </a:prstGeom>
          <a:solidFill>
            <a:srgbClr val="10B981"/>
          </a:solidFill>
          <a:ln>
            <a:noFill/>
          </a:ln>
        </p:spPr>
      </p:sp>
      <p:sp>
        <p:nvSpPr>
          <p:cNvPr id="16" name="TextBox 16"/>
          <p:cNvSpPr txBox="1"/>
          <p:nvPr/>
        </p:nvSpPr>
        <p:spPr>
          <a:xfrm>
            <a:off x="6316980" y="2426018"/>
            <a:ext cx="2302574" cy="274320"/>
          </a:xfrm>
          <a:prstGeom prst="rect">
            <a:avLst/>
          </a:prstGeom>
          <a:noFill/>
          <a:ln>
            <a:noFill/>
          </a:ln>
        </p:spPr>
        <p:txBody>
          <a:bodyPr wrap="none" lIns="0" tIns="0" rIns="0" bIns="0" anchor="t" anchorCtr="0">
            <a:spAutoFit/>
          </a:bodyPr>
          <a:lstStyle/>
          <a:p>
            <a:pPr algn="l"/>
            <a:r>
              <a:rPr lang="zh-CN" sz="1350" b="1" dirty="0">
                <a:solidFill>
                  <a:srgbClr val="10B981"/>
                </a:solidFill>
                <a:latin typeface="Arial"/>
                <a:ea typeface="Microsoft YaHei"/>
                <a:cs typeface="Arial"/>
              </a:rPr>
              <a:t>买破冰协议使用权获得的：</a:t>
            </a:r>
          </a:p>
        </p:txBody>
      </p:sp>
      <p:sp>
        <p:nvSpPr>
          <p:cNvPr id="17" name="TextBox 17"/>
          <p:cNvSpPr txBox="1"/>
          <p:nvPr/>
        </p:nvSpPr>
        <p:spPr>
          <a:xfrm>
            <a:off x="6318885" y="2823210"/>
            <a:ext cx="1334643" cy="243840"/>
          </a:xfrm>
          <a:prstGeom prst="rect">
            <a:avLst/>
          </a:prstGeom>
          <a:noFill/>
          <a:ln>
            <a:noFill/>
          </a:ln>
        </p:spPr>
        <p:txBody>
          <a:bodyPr wrap="none" lIns="0" tIns="0" rIns="0" bIns="0" anchor="t" anchorCtr="0">
            <a:spAutoFit/>
          </a:bodyPr>
          <a:lstStyle/>
          <a:p>
            <a:pPr algn="l"/>
            <a:r>
              <a:rPr lang="zh-CN" sz="1200" dirty="0">
                <a:solidFill>
                  <a:srgbClr val="E2E8F0"/>
                </a:solidFill>
                <a:latin typeface="Arial"/>
                <a:ea typeface="Microsoft YaHei"/>
                <a:cs typeface="Arial"/>
              </a:rPr>
              <a:t>完整 6 步执行闭环</a:t>
            </a:r>
          </a:p>
        </p:txBody>
      </p:sp>
      <p:sp>
        <p:nvSpPr>
          <p:cNvPr id="18" name="TextBox 18"/>
          <p:cNvSpPr txBox="1"/>
          <p:nvPr/>
        </p:nvSpPr>
        <p:spPr>
          <a:xfrm>
            <a:off x="6318885" y="3156585"/>
            <a:ext cx="2110740" cy="243840"/>
          </a:xfrm>
          <a:prstGeom prst="rect">
            <a:avLst/>
          </a:prstGeom>
          <a:noFill/>
          <a:ln>
            <a:noFill/>
          </a:ln>
        </p:spPr>
        <p:txBody>
          <a:bodyPr wrap="none" lIns="0" tIns="0" rIns="0" bIns="0" anchor="t" anchorCtr="0">
            <a:spAutoFit/>
          </a:bodyPr>
          <a:lstStyle/>
          <a:p>
            <a:pPr algn="l"/>
            <a:r>
              <a:rPr lang="zh-CN" sz="1200" dirty="0">
                <a:solidFill>
                  <a:srgbClr val="E2E8F0"/>
                </a:solidFill>
                <a:latin typeface="Arial"/>
                <a:ea typeface="Microsoft YaHei"/>
                <a:cs typeface="Arial"/>
              </a:rPr>
              <a:t>三阶段计时器（前端已实现）</a:t>
            </a:r>
          </a:p>
        </p:txBody>
      </p:sp>
      <p:sp>
        <p:nvSpPr>
          <p:cNvPr id="19" name="TextBox 19"/>
          <p:cNvSpPr txBox="1"/>
          <p:nvPr/>
        </p:nvSpPr>
        <p:spPr>
          <a:xfrm>
            <a:off x="6318885" y="3489960"/>
            <a:ext cx="2086737" cy="243840"/>
          </a:xfrm>
          <a:prstGeom prst="rect">
            <a:avLst/>
          </a:prstGeom>
          <a:noFill/>
          <a:ln>
            <a:noFill/>
          </a:ln>
        </p:spPr>
        <p:txBody>
          <a:bodyPr wrap="none" lIns="0" tIns="0" rIns="0" bIns="0" anchor="t" anchorCtr="0">
            <a:spAutoFit/>
          </a:bodyPr>
          <a:lstStyle/>
          <a:p>
            <a:pPr algn="l"/>
            <a:r>
              <a:rPr lang="zh-CN" sz="1200" dirty="0">
                <a:solidFill>
                  <a:srgbClr val="E2E8F0"/>
                </a:solidFill>
                <a:latin typeface="Arial"/>
                <a:ea typeface="Microsoft YaHei"/>
                <a:cs typeface="Arial"/>
              </a:rPr>
              <a:t>产出质量评价（5 维度报告）</a:t>
            </a:r>
          </a:p>
        </p:txBody>
      </p:sp>
      <p:sp>
        <p:nvSpPr>
          <p:cNvPr id="20" name="TextBox 20"/>
          <p:cNvSpPr txBox="1"/>
          <p:nvPr/>
        </p:nvSpPr>
        <p:spPr>
          <a:xfrm>
            <a:off x="6318885" y="3823335"/>
            <a:ext cx="2014728" cy="243840"/>
          </a:xfrm>
          <a:prstGeom prst="rect">
            <a:avLst/>
          </a:prstGeom>
          <a:noFill/>
          <a:ln>
            <a:noFill/>
          </a:ln>
        </p:spPr>
        <p:txBody>
          <a:bodyPr wrap="none" lIns="0" tIns="0" rIns="0" bIns="0" anchor="t" anchorCtr="0">
            <a:spAutoFit/>
          </a:bodyPr>
          <a:lstStyle/>
          <a:p>
            <a:pPr algn="l"/>
            <a:r>
              <a:rPr lang="zh-CN" sz="1200" dirty="0">
                <a:solidFill>
                  <a:srgbClr val="E2E8F0"/>
                </a:solidFill>
                <a:latin typeface="Arial"/>
                <a:ea typeface="Microsoft YaHei"/>
                <a:cs typeface="Arial"/>
              </a:rPr>
              <a:t>停滞自动介入（60 秒触发）</a:t>
            </a:r>
          </a:p>
        </p:txBody>
      </p:sp>
      <p:sp>
        <p:nvSpPr>
          <p:cNvPr id="21" name="TextBox 21"/>
          <p:cNvSpPr txBox="1"/>
          <p:nvPr/>
        </p:nvSpPr>
        <p:spPr>
          <a:xfrm>
            <a:off x="6318885" y="4156710"/>
            <a:ext cx="1494663" cy="243840"/>
          </a:xfrm>
          <a:prstGeom prst="rect">
            <a:avLst/>
          </a:prstGeom>
          <a:noFill/>
          <a:ln>
            <a:noFill/>
          </a:ln>
        </p:spPr>
        <p:txBody>
          <a:bodyPr wrap="none" lIns="0" tIns="0" rIns="0" bIns="0" anchor="t" anchorCtr="0">
            <a:spAutoFit/>
          </a:bodyPr>
          <a:lstStyle/>
          <a:p>
            <a:pPr algn="l"/>
            <a:r>
              <a:rPr lang="zh-CN" sz="1200" dirty="0">
                <a:solidFill>
                  <a:srgbClr val="E2E8F0"/>
                </a:solidFill>
                <a:latin typeface="Arial"/>
                <a:ea typeface="Microsoft YaHei"/>
                <a:cs typeface="Arial"/>
              </a:rPr>
              <a:t>附件解析 + 语音输入</a:t>
            </a:r>
          </a:p>
        </p:txBody>
      </p:sp>
      <p:sp>
        <p:nvSpPr>
          <p:cNvPr id="22" name="TextBox 22"/>
          <p:cNvSpPr txBox="1"/>
          <p:nvPr/>
        </p:nvSpPr>
        <p:spPr>
          <a:xfrm>
            <a:off x="11016520" y="6570345"/>
            <a:ext cx="424910" cy="182880"/>
          </a:xfrm>
          <a:prstGeom prst="rect">
            <a:avLst/>
          </a:prstGeom>
          <a:noFill/>
          <a:ln>
            <a:noFill/>
          </a:ln>
        </p:spPr>
        <p:txBody>
          <a:bodyPr wrap="none" lIns="0" tIns="0" rIns="0" bIns="0" anchor="t" anchorCtr="0">
            <a:spAutoFit/>
          </a:bodyPr>
          <a:lstStyle/>
          <a:p>
            <a:pPr algn="r"/>
            <a:r>
              <a:rPr lang="zh-CN" sz="900" dirty="0">
                <a:solidFill>
                  <a:srgbClr val="64748B"/>
                </a:solidFill>
                <a:latin typeface="Arial"/>
                <a:ea typeface="Microsoft YaHei"/>
                <a:cs typeface="Arial"/>
              </a:rPr>
              <a:t>07 / 09</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57150" cy="6858000"/>
          </a:xfrm>
          <a:prstGeom prst="rect">
            <a:avLst/>
          </a:prstGeom>
          <a:solidFill>
            <a:srgbClr val="3B82F6"/>
          </a:solidFill>
          <a:ln>
            <a:noFill/>
          </a:ln>
        </p:spPr>
      </p:sp>
      <p:sp>
        <p:nvSpPr>
          <p:cNvPr id="4" name="TextBox 4"/>
          <p:cNvSpPr txBox="1"/>
          <p:nvPr/>
        </p:nvSpPr>
        <p:spPr>
          <a:xfrm>
            <a:off x="537210" y="232410"/>
            <a:ext cx="4661854" cy="548640"/>
          </a:xfrm>
          <a:prstGeom prst="rect">
            <a:avLst/>
          </a:prstGeom>
          <a:noFill/>
          <a:ln>
            <a:noFill/>
          </a:ln>
        </p:spPr>
        <p:txBody>
          <a:bodyPr wrap="none" lIns="0" tIns="0" rIns="0" bIns="0" anchor="t" anchorCtr="0">
            <a:spAutoFit/>
          </a:bodyPr>
          <a:lstStyle/>
          <a:p>
            <a:pPr algn="l"/>
            <a:r>
              <a:rPr lang="zh-CN" sz="2700" b="1" dirty="0">
                <a:solidFill>
                  <a:srgbClr val="E2E8F0"/>
                </a:solidFill>
                <a:latin typeface="Arial"/>
                <a:ea typeface="Microsoft YaHei"/>
                <a:cs typeface="Arial"/>
              </a:rPr>
              <a:t>交付能力 — 买完能不能落地</a:t>
            </a:r>
          </a:p>
        </p:txBody>
      </p:sp>
      <p:sp>
        <p:nvSpPr>
          <p:cNvPr id="5" name="Rectangle 5"/>
          <p:cNvSpPr/>
          <p:nvPr/>
        </p:nvSpPr>
        <p:spPr>
          <a:xfrm>
            <a:off x="571500" y="647700"/>
            <a:ext cx="4572000" cy="28575"/>
          </a:xfrm>
          <a:prstGeom prst="rect">
            <a:avLst/>
          </a:prstGeom>
          <a:solidFill>
            <a:srgbClr val="3B82F6"/>
          </a:solidFill>
          <a:ln>
            <a:noFill/>
          </a:ln>
        </p:spPr>
      </p:sp>
      <p:sp>
        <p:nvSpPr>
          <p:cNvPr id="6" name="TextBox 6"/>
          <p:cNvSpPr txBox="1"/>
          <p:nvPr/>
        </p:nvSpPr>
        <p:spPr>
          <a:xfrm>
            <a:off x="556260" y="822960"/>
            <a:ext cx="3230880"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使用权最怕买完落不了地。以下是交付清单：</a:t>
            </a:r>
          </a:p>
        </p:txBody>
      </p:sp>
      <p:sp>
        <p:nvSpPr>
          <p:cNvPr id="7" name="Rectangle 7"/>
          <p:cNvSpPr/>
          <p:nvPr/>
        </p:nvSpPr>
        <p:spPr>
          <a:xfrm>
            <a:off x="571500" y="1190625"/>
            <a:ext cx="3429000" cy="1714500"/>
          </a:xfrm>
          <a:prstGeom prst="roundRect">
            <a:avLst>
              <a:gd name="adj" fmla="val 6667"/>
            </a:avLst>
          </a:prstGeom>
          <a:solidFill>
            <a:srgbClr val="151B2D"/>
          </a:solidFill>
          <a:ln w="9525">
            <a:solidFill>
              <a:srgbClr val="1E293B"/>
            </a:solidFill>
          </a:ln>
        </p:spPr>
      </p:sp>
      <p:sp>
        <p:nvSpPr>
          <p:cNvPr id="8" name="Rectangle 8"/>
          <p:cNvSpPr/>
          <p:nvPr/>
        </p:nvSpPr>
        <p:spPr>
          <a:xfrm>
            <a:off x="571500" y="1190625"/>
            <a:ext cx="3429000" cy="38100"/>
          </a:xfrm>
          <a:prstGeom prst="roundRect">
            <a:avLst>
              <a:gd name="adj" fmla="val 50000"/>
            </a:avLst>
          </a:prstGeom>
          <a:solidFill>
            <a:srgbClr val="3B82F6"/>
          </a:solidFill>
          <a:ln>
            <a:noFill/>
          </a:ln>
        </p:spPr>
      </p:sp>
      <p:sp>
        <p:nvSpPr>
          <p:cNvPr id="9" name="TextBox 9"/>
          <p:cNvSpPr txBox="1"/>
          <p:nvPr/>
        </p:nvSpPr>
        <p:spPr>
          <a:xfrm>
            <a:off x="840105" y="1425892"/>
            <a:ext cx="1659893" cy="274320"/>
          </a:xfrm>
          <a:prstGeom prst="rect">
            <a:avLst/>
          </a:prstGeom>
          <a:noFill/>
          <a:ln>
            <a:noFill/>
          </a:ln>
        </p:spPr>
        <p:txBody>
          <a:bodyPr wrap="none" lIns="0" tIns="0" rIns="0" bIns="0" anchor="t" anchorCtr="0">
            <a:spAutoFit/>
          </a:bodyPr>
          <a:lstStyle/>
          <a:p>
            <a:pPr algn="l"/>
            <a:r>
              <a:rPr lang="zh-CN" sz="1350" b="1" dirty="0">
                <a:solidFill>
                  <a:srgbClr val="3B82F6"/>
                </a:solidFill>
                <a:latin typeface="Arial"/>
                <a:ea typeface="Microsoft YaHei"/>
                <a:cs typeface="Arial"/>
              </a:rPr>
              <a:t>交付物 1：完整代码</a:t>
            </a:r>
          </a:p>
        </p:txBody>
      </p:sp>
      <p:sp>
        <p:nvSpPr>
          <p:cNvPr id="10" name="TextBox 10"/>
          <p:cNvSpPr txBox="1"/>
          <p:nvPr/>
        </p:nvSpPr>
        <p:spPr>
          <a:xfrm>
            <a:off x="842962" y="1783556"/>
            <a:ext cx="1678781" cy="228600"/>
          </a:xfrm>
          <a:prstGeom prst="rect">
            <a:avLst/>
          </a:prstGeom>
          <a:noFill/>
          <a:ln>
            <a:noFill/>
          </a:ln>
        </p:spPr>
        <p:txBody>
          <a:bodyPr wrap="none" lIns="0" tIns="0" rIns="0" bIns="0" anchor="t" anchorCtr="0">
            <a:spAutoFit/>
          </a:bodyPr>
          <a:lstStyle/>
          <a:p>
            <a:pPr algn="l"/>
            <a:r>
              <a:rPr lang="zh-CN" sz="1125" dirty="0">
                <a:solidFill>
                  <a:srgbClr val="E2E8F0"/>
                </a:solidFill>
                <a:latin typeface="Arial"/>
                <a:ea typeface="Microsoft YaHei"/>
                <a:cs typeface="Arial"/>
              </a:rPr>
              <a:t>FastAPI + Vite 全栈代码</a:t>
            </a:r>
          </a:p>
        </p:txBody>
      </p:sp>
      <p:sp>
        <p:nvSpPr>
          <p:cNvPr id="11" name="TextBox 11"/>
          <p:cNvSpPr txBox="1"/>
          <p:nvPr/>
        </p:nvSpPr>
        <p:spPr>
          <a:xfrm>
            <a:off x="842962" y="2069306"/>
            <a:ext cx="2121337"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Web Demo / CLI / API 完整交付</a:t>
            </a:r>
          </a:p>
        </p:txBody>
      </p:sp>
      <p:sp>
        <p:nvSpPr>
          <p:cNvPr id="12" name="TextBox 12"/>
          <p:cNvSpPr txBox="1"/>
          <p:nvPr/>
        </p:nvSpPr>
        <p:spPr>
          <a:xfrm>
            <a:off x="843915" y="2410778"/>
            <a:ext cx="1706880"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状态：已上线，可直接部署</a:t>
            </a:r>
          </a:p>
        </p:txBody>
      </p:sp>
      <p:sp>
        <p:nvSpPr>
          <p:cNvPr id="13" name="Rectangle 13"/>
          <p:cNvSpPr/>
          <p:nvPr/>
        </p:nvSpPr>
        <p:spPr>
          <a:xfrm>
            <a:off x="4286250" y="1190625"/>
            <a:ext cx="3429000" cy="1714500"/>
          </a:xfrm>
          <a:prstGeom prst="roundRect">
            <a:avLst>
              <a:gd name="adj" fmla="val 6667"/>
            </a:avLst>
          </a:prstGeom>
          <a:solidFill>
            <a:srgbClr val="151B2D"/>
          </a:solidFill>
          <a:ln w="9525">
            <a:solidFill>
              <a:srgbClr val="1E293B"/>
            </a:solidFill>
          </a:ln>
        </p:spPr>
      </p:sp>
      <p:sp>
        <p:nvSpPr>
          <p:cNvPr id="14" name="Rectangle 14"/>
          <p:cNvSpPr/>
          <p:nvPr/>
        </p:nvSpPr>
        <p:spPr>
          <a:xfrm>
            <a:off x="4286250" y="1190625"/>
            <a:ext cx="3429000" cy="38100"/>
          </a:xfrm>
          <a:prstGeom prst="roundRect">
            <a:avLst>
              <a:gd name="adj" fmla="val 50000"/>
            </a:avLst>
          </a:prstGeom>
          <a:solidFill>
            <a:srgbClr val="10B981"/>
          </a:solidFill>
          <a:ln>
            <a:noFill/>
          </a:ln>
        </p:spPr>
      </p:sp>
      <p:sp>
        <p:nvSpPr>
          <p:cNvPr id="15" name="TextBox 15"/>
          <p:cNvSpPr txBox="1"/>
          <p:nvPr/>
        </p:nvSpPr>
        <p:spPr>
          <a:xfrm>
            <a:off x="4554855" y="1425892"/>
            <a:ext cx="1707149" cy="274320"/>
          </a:xfrm>
          <a:prstGeom prst="rect">
            <a:avLst/>
          </a:prstGeom>
          <a:noFill/>
          <a:ln>
            <a:noFill/>
          </a:ln>
        </p:spPr>
        <p:txBody>
          <a:bodyPr wrap="none" lIns="0" tIns="0" rIns="0" bIns="0" anchor="t" anchorCtr="0">
            <a:spAutoFit/>
          </a:bodyPr>
          <a:lstStyle/>
          <a:p>
            <a:pPr algn="l"/>
            <a:r>
              <a:rPr lang="zh-CN" sz="1350" b="1" dirty="0">
                <a:solidFill>
                  <a:srgbClr val="10B981"/>
                </a:solidFill>
                <a:latin typeface="Arial"/>
                <a:ea typeface="Microsoft YaHei"/>
                <a:cs typeface="Arial"/>
              </a:rPr>
              <a:t>交付物 2：部署方案</a:t>
            </a:r>
          </a:p>
        </p:txBody>
      </p:sp>
      <p:sp>
        <p:nvSpPr>
          <p:cNvPr id="16" name="TextBox 16"/>
          <p:cNvSpPr txBox="1"/>
          <p:nvPr/>
        </p:nvSpPr>
        <p:spPr>
          <a:xfrm>
            <a:off x="4557712" y="1783556"/>
            <a:ext cx="1431250" cy="228600"/>
          </a:xfrm>
          <a:prstGeom prst="rect">
            <a:avLst/>
          </a:prstGeom>
          <a:noFill/>
          <a:ln>
            <a:noFill/>
          </a:ln>
        </p:spPr>
        <p:txBody>
          <a:bodyPr wrap="none" lIns="0" tIns="0" rIns="0" bIns="0" anchor="t" anchorCtr="0">
            <a:spAutoFit/>
          </a:bodyPr>
          <a:lstStyle/>
          <a:p>
            <a:pPr algn="l"/>
            <a:r>
              <a:rPr lang="zh-CN" sz="1125" dirty="0">
                <a:solidFill>
                  <a:srgbClr val="E2E8F0"/>
                </a:solidFill>
                <a:latin typeface="Arial"/>
                <a:ea typeface="Microsoft YaHei"/>
                <a:cs typeface="Arial"/>
              </a:rPr>
              <a:t>Vercel 一键部署配置</a:t>
            </a:r>
          </a:p>
        </p:txBody>
      </p:sp>
      <p:sp>
        <p:nvSpPr>
          <p:cNvPr id="17" name="TextBox 17"/>
          <p:cNvSpPr txBox="1"/>
          <p:nvPr/>
        </p:nvSpPr>
        <p:spPr>
          <a:xfrm>
            <a:off x="4557712" y="2069306"/>
            <a:ext cx="2068830"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本地部署文档，可支持 Docker</a:t>
            </a:r>
          </a:p>
        </p:txBody>
      </p:sp>
      <p:sp>
        <p:nvSpPr>
          <p:cNvPr id="18" name="TextBox 18"/>
          <p:cNvSpPr txBox="1"/>
          <p:nvPr/>
        </p:nvSpPr>
        <p:spPr>
          <a:xfrm>
            <a:off x="4558665" y="2410778"/>
            <a:ext cx="1566863"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状态：已配置，开箱即用</a:t>
            </a:r>
          </a:p>
        </p:txBody>
      </p:sp>
      <p:sp>
        <p:nvSpPr>
          <p:cNvPr id="19" name="Rectangle 19"/>
          <p:cNvSpPr/>
          <p:nvPr/>
        </p:nvSpPr>
        <p:spPr>
          <a:xfrm>
            <a:off x="8001000" y="1190625"/>
            <a:ext cx="3619500" cy="1714500"/>
          </a:xfrm>
          <a:prstGeom prst="roundRect">
            <a:avLst>
              <a:gd name="adj" fmla="val 6667"/>
            </a:avLst>
          </a:prstGeom>
          <a:solidFill>
            <a:srgbClr val="151B2D"/>
          </a:solidFill>
          <a:ln w="9525">
            <a:solidFill>
              <a:srgbClr val="1E293B"/>
            </a:solidFill>
          </a:ln>
        </p:spPr>
      </p:sp>
      <p:sp>
        <p:nvSpPr>
          <p:cNvPr id="20" name="Rectangle 20"/>
          <p:cNvSpPr/>
          <p:nvPr/>
        </p:nvSpPr>
        <p:spPr>
          <a:xfrm>
            <a:off x="8001000" y="1190625"/>
            <a:ext cx="3619500" cy="38100"/>
          </a:xfrm>
          <a:prstGeom prst="roundRect">
            <a:avLst>
              <a:gd name="adj" fmla="val 50000"/>
            </a:avLst>
          </a:prstGeom>
          <a:solidFill>
            <a:srgbClr val="F59E0B"/>
          </a:solidFill>
          <a:ln>
            <a:noFill/>
          </a:ln>
        </p:spPr>
      </p:sp>
      <p:sp>
        <p:nvSpPr>
          <p:cNvPr id="21" name="TextBox 21"/>
          <p:cNvSpPr txBox="1"/>
          <p:nvPr/>
        </p:nvSpPr>
        <p:spPr>
          <a:xfrm>
            <a:off x="8269605" y="1425892"/>
            <a:ext cx="1707149" cy="274320"/>
          </a:xfrm>
          <a:prstGeom prst="rect">
            <a:avLst/>
          </a:prstGeom>
          <a:noFill/>
          <a:ln>
            <a:noFill/>
          </a:ln>
        </p:spPr>
        <p:txBody>
          <a:bodyPr wrap="none" lIns="0" tIns="0" rIns="0" bIns="0" anchor="t" anchorCtr="0">
            <a:spAutoFit/>
          </a:bodyPr>
          <a:lstStyle/>
          <a:p>
            <a:pPr algn="l"/>
            <a:r>
              <a:rPr lang="zh-CN" sz="1350" b="1" dirty="0">
                <a:solidFill>
                  <a:srgbClr val="F59E0B"/>
                </a:solidFill>
                <a:latin typeface="Arial"/>
                <a:ea typeface="Microsoft YaHei"/>
                <a:cs typeface="Arial"/>
              </a:rPr>
              <a:t>交付物 3：培训支持</a:t>
            </a:r>
          </a:p>
        </p:txBody>
      </p:sp>
      <p:sp>
        <p:nvSpPr>
          <p:cNvPr id="22" name="TextBox 22"/>
          <p:cNvSpPr txBox="1"/>
          <p:nvPr/>
        </p:nvSpPr>
        <p:spPr>
          <a:xfrm>
            <a:off x="8272462" y="1783556"/>
            <a:ext cx="1378744" cy="228600"/>
          </a:xfrm>
          <a:prstGeom prst="rect">
            <a:avLst/>
          </a:prstGeom>
          <a:noFill/>
          <a:ln>
            <a:noFill/>
          </a:ln>
        </p:spPr>
        <p:txBody>
          <a:bodyPr wrap="none" lIns="0" tIns="0" rIns="0" bIns="0" anchor="t" anchorCtr="0">
            <a:spAutoFit/>
          </a:bodyPr>
          <a:lstStyle/>
          <a:p>
            <a:pPr algn="l"/>
            <a:r>
              <a:rPr lang="zh-CN" sz="1125" dirty="0">
                <a:solidFill>
                  <a:srgbClr val="E2E8F0"/>
                </a:solidFill>
                <a:latin typeface="Arial"/>
                <a:ea typeface="Microsoft YaHei"/>
                <a:cs typeface="Arial"/>
              </a:rPr>
              <a:t>按场景定制协议模板</a:t>
            </a:r>
          </a:p>
        </p:txBody>
      </p:sp>
      <p:sp>
        <p:nvSpPr>
          <p:cNvPr id="23" name="TextBox 23"/>
          <p:cNvSpPr txBox="1"/>
          <p:nvPr/>
        </p:nvSpPr>
        <p:spPr>
          <a:xfrm>
            <a:off x="8272462" y="2069306"/>
            <a:ext cx="1401247"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使用文档 + 操作培训</a:t>
            </a:r>
          </a:p>
        </p:txBody>
      </p:sp>
      <p:sp>
        <p:nvSpPr>
          <p:cNvPr id="24" name="TextBox 24"/>
          <p:cNvSpPr txBox="1"/>
          <p:nvPr/>
        </p:nvSpPr>
        <p:spPr>
          <a:xfrm>
            <a:off x="8273415" y="2410778"/>
            <a:ext cx="1846898"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创始人直接交付，非外包团队</a:t>
            </a:r>
          </a:p>
        </p:txBody>
      </p:sp>
      <p:sp>
        <p:nvSpPr>
          <p:cNvPr id="25" name="Rectangle 25"/>
          <p:cNvSpPr/>
          <p:nvPr/>
        </p:nvSpPr>
        <p:spPr>
          <a:xfrm>
            <a:off x="571500" y="3143250"/>
            <a:ext cx="11049000" cy="1238250"/>
          </a:xfrm>
          <a:prstGeom prst="roundRect">
            <a:avLst>
              <a:gd name="adj" fmla="val 9231"/>
            </a:avLst>
          </a:prstGeom>
          <a:solidFill>
            <a:srgbClr val="151B2D"/>
          </a:solidFill>
          <a:ln w="9525">
            <a:solidFill>
              <a:srgbClr val="1E293B"/>
            </a:solidFill>
          </a:ln>
        </p:spPr>
      </p:sp>
      <p:sp>
        <p:nvSpPr>
          <p:cNvPr id="26" name="TextBox 26"/>
          <p:cNvSpPr txBox="1"/>
          <p:nvPr/>
        </p:nvSpPr>
        <p:spPr>
          <a:xfrm>
            <a:off x="840105" y="3378518"/>
            <a:ext cx="790384" cy="274320"/>
          </a:xfrm>
          <a:prstGeom prst="rect">
            <a:avLst/>
          </a:prstGeom>
          <a:noFill/>
          <a:ln>
            <a:noFill/>
          </a:ln>
        </p:spPr>
        <p:txBody>
          <a:bodyPr wrap="none" lIns="0" tIns="0" rIns="0" bIns="0" anchor="t" anchorCtr="0">
            <a:spAutoFit/>
          </a:bodyPr>
          <a:lstStyle/>
          <a:p>
            <a:pPr algn="l"/>
            <a:r>
              <a:rPr lang="zh-CN" sz="1350" b="1" dirty="0">
                <a:solidFill>
                  <a:srgbClr val="E2E8F0"/>
                </a:solidFill>
                <a:latin typeface="Arial"/>
                <a:ea typeface="Microsoft YaHei"/>
                <a:cs typeface="Arial"/>
              </a:rPr>
              <a:t>交付保障</a:t>
            </a:r>
          </a:p>
        </p:txBody>
      </p:sp>
      <p:sp>
        <p:nvSpPr>
          <p:cNvPr id="27" name="TextBox 27"/>
          <p:cNvSpPr txBox="1"/>
          <p:nvPr/>
        </p:nvSpPr>
        <p:spPr>
          <a:xfrm>
            <a:off x="842962" y="3736181"/>
            <a:ext cx="3201472" cy="228600"/>
          </a:xfrm>
          <a:prstGeom prst="rect">
            <a:avLst/>
          </a:prstGeom>
          <a:noFill/>
          <a:ln>
            <a:noFill/>
          </a:ln>
        </p:spPr>
        <p:txBody>
          <a:bodyPr wrap="none" lIns="0" tIns="0" rIns="0" bIns="0" anchor="t" anchorCtr="0">
            <a:spAutoFit/>
          </a:bodyPr>
          <a:lstStyle/>
          <a:p>
            <a:pPr algn="l"/>
            <a:r>
              <a:rPr lang="zh-CN" sz="1125" dirty="0">
                <a:solidFill>
                  <a:srgbClr val="E2E8F0"/>
                </a:solidFill>
                <a:latin typeface="Arial"/>
                <a:ea typeface="Microsoft YaHei"/>
                <a:cs typeface="Arial"/>
              </a:rPr>
              <a:t>乔瑞雪 — 独立开发者，全栈交付，买完就能落地</a:t>
            </a:r>
          </a:p>
        </p:txBody>
      </p:sp>
      <p:sp>
        <p:nvSpPr>
          <p:cNvPr id="28" name="TextBox 28"/>
          <p:cNvSpPr txBox="1"/>
          <p:nvPr/>
        </p:nvSpPr>
        <p:spPr>
          <a:xfrm>
            <a:off x="842962" y="4021931"/>
            <a:ext cx="3328988"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全栈交付能力，买完就能落地，不需要等团队组建</a:t>
            </a:r>
          </a:p>
        </p:txBody>
      </p:sp>
      <p:sp>
        <p:nvSpPr>
          <p:cNvPr id="29" name="Rectangle 29"/>
          <p:cNvSpPr/>
          <p:nvPr/>
        </p:nvSpPr>
        <p:spPr>
          <a:xfrm>
            <a:off x="571500" y="4619625"/>
            <a:ext cx="11049000" cy="952500"/>
          </a:xfrm>
          <a:prstGeom prst="roundRect">
            <a:avLst>
              <a:gd name="adj" fmla="val 12000"/>
            </a:avLst>
          </a:prstGeom>
          <a:solidFill>
            <a:srgbClr val="F59E0B">
              <a:alpha val="10000"/>
            </a:srgbClr>
          </a:solidFill>
          <a:ln w="9525">
            <a:solidFill>
              <a:srgbClr val="F59E0B"/>
            </a:solidFill>
          </a:ln>
        </p:spPr>
      </p:sp>
      <p:sp>
        <p:nvSpPr>
          <p:cNvPr id="30" name="TextBox 30"/>
          <p:cNvSpPr txBox="1"/>
          <p:nvPr/>
        </p:nvSpPr>
        <p:spPr>
          <a:xfrm>
            <a:off x="840105" y="4902518"/>
            <a:ext cx="7047066" cy="274320"/>
          </a:xfrm>
          <a:prstGeom prst="rect">
            <a:avLst/>
          </a:prstGeom>
          <a:noFill/>
          <a:ln>
            <a:noFill/>
          </a:ln>
        </p:spPr>
        <p:txBody>
          <a:bodyPr wrap="none" lIns="0" tIns="0" rIns="0" bIns="0" anchor="t" anchorCtr="0">
            <a:spAutoFit/>
          </a:bodyPr>
          <a:lstStyle/>
          <a:p>
            <a:pPr algn="l"/>
            <a:r>
              <a:rPr lang="zh-CN" sz="1350" b="1" dirty="0">
                <a:solidFill>
                  <a:srgbClr val="F59E0B"/>
                </a:solidFill>
                <a:latin typeface="Arial"/>
                <a:ea typeface="Microsoft YaHei"/>
                <a:cs typeface="Arial"/>
              </a:rPr>
              <a:t>拍卖标的核心：不是买代码，是买一个"已跑通、可部署、能赚钱"的完整商业化包。</a:t>
            </a:r>
          </a:p>
        </p:txBody>
      </p:sp>
      <p:sp>
        <p:nvSpPr>
          <p:cNvPr id="31" name="TextBox 31"/>
          <p:cNvSpPr txBox="1"/>
          <p:nvPr/>
        </p:nvSpPr>
        <p:spPr>
          <a:xfrm>
            <a:off x="842962" y="5260181"/>
            <a:ext cx="4919186" cy="228600"/>
          </a:xfrm>
          <a:prstGeom prst="rect">
            <a:avLst/>
          </a:prstGeom>
          <a:noFill/>
          <a:ln>
            <a:noFill/>
          </a:ln>
        </p:spPr>
        <p:txBody>
          <a:bodyPr wrap="none" lIns="0" tIns="0" rIns="0" bIns="0" anchor="t" anchorCtr="0">
            <a:spAutoFit/>
          </a:bodyPr>
          <a:lstStyle/>
          <a:p>
            <a:pPr algn="l"/>
            <a:r>
              <a:rPr lang="zh-CN" sz="1125" dirty="0">
                <a:solidFill>
                  <a:srgbClr val="E2E8F0"/>
                </a:solidFill>
                <a:latin typeface="Arial"/>
                <a:ea typeface="Microsoft YaHei"/>
                <a:cs typeface="Arial"/>
              </a:rPr>
              <a:t>代码是免费的（MIT），但让它在特定场景里跑通并变现，需要买使用权。</a:t>
            </a:r>
          </a:p>
        </p:txBody>
      </p:sp>
      <p:sp>
        <p:nvSpPr>
          <p:cNvPr id="32" name="TextBox 32"/>
          <p:cNvSpPr txBox="1"/>
          <p:nvPr/>
        </p:nvSpPr>
        <p:spPr>
          <a:xfrm>
            <a:off x="11016520" y="6570345"/>
            <a:ext cx="424910" cy="182880"/>
          </a:xfrm>
          <a:prstGeom prst="rect">
            <a:avLst/>
          </a:prstGeom>
          <a:noFill/>
          <a:ln>
            <a:noFill/>
          </a:ln>
        </p:spPr>
        <p:txBody>
          <a:bodyPr wrap="none" lIns="0" tIns="0" rIns="0" bIns="0" anchor="t" anchorCtr="0">
            <a:spAutoFit/>
          </a:bodyPr>
          <a:lstStyle/>
          <a:p>
            <a:pPr algn="r"/>
            <a:r>
              <a:rPr lang="zh-CN" sz="900" dirty="0">
                <a:solidFill>
                  <a:srgbClr val="64748B"/>
                </a:solidFill>
                <a:latin typeface="Arial"/>
                <a:ea typeface="Microsoft YaHei"/>
                <a:cs typeface="Arial"/>
              </a:rPr>
              <a:t>08 / 09</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2286000" y="762000"/>
            <a:ext cx="7620000" cy="3810000"/>
          </a:xfrm>
          <a:prstGeom prst="roundRect">
            <a:avLst>
              <a:gd name="adj" fmla="val 50000"/>
            </a:avLst>
          </a:prstGeom>
          <a:solidFill>
            <a:srgbClr val="3B82F6">
              <a:alpha val="8000"/>
            </a:srgbClr>
          </a:solidFill>
          <a:ln>
            <a:noFill/>
          </a:ln>
        </p:spPr>
      </p:sp>
      <p:sp>
        <p:nvSpPr>
          <p:cNvPr id="4" name="Rectangle 4"/>
          <p:cNvSpPr/>
          <p:nvPr/>
        </p:nvSpPr>
        <p:spPr>
          <a:xfrm>
            <a:off x="4191000" y="1714500"/>
            <a:ext cx="3810000" cy="28575"/>
          </a:xfrm>
          <a:prstGeom prst="rect">
            <a:avLst/>
          </a:prstGeom>
          <a:solidFill>
            <a:srgbClr val="3B82F6"/>
          </a:solidFill>
          <a:ln>
            <a:noFill/>
          </a:ln>
        </p:spPr>
      </p:sp>
      <p:sp>
        <p:nvSpPr>
          <p:cNvPr id="5" name="TextBox 5"/>
          <p:cNvSpPr txBox="1"/>
          <p:nvPr/>
        </p:nvSpPr>
        <p:spPr>
          <a:xfrm>
            <a:off x="4778692" y="1990725"/>
            <a:ext cx="2634615" cy="914400"/>
          </a:xfrm>
          <a:prstGeom prst="rect">
            <a:avLst/>
          </a:prstGeom>
          <a:noFill/>
          <a:ln>
            <a:noFill/>
          </a:ln>
        </p:spPr>
        <p:txBody>
          <a:bodyPr wrap="none" lIns="0" tIns="0" rIns="0" bIns="0" anchor="t" anchorCtr="0">
            <a:spAutoFit/>
          </a:bodyPr>
          <a:lstStyle/>
          <a:p>
            <a:pPr algn="ctr"/>
            <a:r>
              <a:rPr lang="zh-CN" sz="4500" b="1" dirty="0">
                <a:solidFill>
                  <a:srgbClr val="E2E8F0"/>
                </a:solidFill>
                <a:latin typeface="Arial"/>
                <a:ea typeface="Microsoft YaHei"/>
                <a:cs typeface="Arial"/>
              </a:rPr>
              <a:t>感谢聆听</a:t>
            </a:r>
          </a:p>
        </p:txBody>
      </p:sp>
      <p:sp>
        <p:nvSpPr>
          <p:cNvPr id="6" name="TextBox 6"/>
          <p:cNvSpPr txBox="1"/>
          <p:nvPr/>
        </p:nvSpPr>
        <p:spPr>
          <a:xfrm>
            <a:off x="5593080" y="2853690"/>
            <a:ext cx="1005840" cy="365760"/>
          </a:xfrm>
          <a:prstGeom prst="rect">
            <a:avLst/>
          </a:prstGeom>
          <a:noFill/>
          <a:ln>
            <a:noFill/>
          </a:ln>
        </p:spPr>
        <p:txBody>
          <a:bodyPr wrap="none" lIns="0" tIns="0" rIns="0" bIns="0" anchor="t" anchorCtr="0">
            <a:spAutoFit/>
          </a:bodyPr>
          <a:lstStyle/>
          <a:p>
            <a:pPr algn="ctr"/>
            <a:r>
              <a:rPr lang="zh-CN" sz="1800" dirty="0">
                <a:solidFill>
                  <a:srgbClr val="94A3B8"/>
                </a:solidFill>
                <a:latin typeface="Arial"/>
                <a:ea typeface="Microsoft YaHei"/>
                <a:cs typeface="Arial"/>
              </a:rPr>
              <a:t>欢迎提问</a:t>
            </a:r>
          </a:p>
        </p:txBody>
      </p:sp>
      <p:sp>
        <p:nvSpPr>
          <p:cNvPr id="7" name="Rectangle 7"/>
          <p:cNvSpPr/>
          <p:nvPr/>
        </p:nvSpPr>
        <p:spPr>
          <a:xfrm>
            <a:off x="4667250" y="3429000"/>
            <a:ext cx="2857500" cy="19050"/>
          </a:xfrm>
          <a:prstGeom prst="rect">
            <a:avLst/>
          </a:prstGeom>
          <a:solidFill>
            <a:srgbClr val="F59E0B"/>
          </a:solidFill>
          <a:ln>
            <a:noFill/>
          </a:ln>
        </p:spPr>
      </p:sp>
      <p:sp>
        <p:nvSpPr>
          <p:cNvPr id="8" name="TextBox 8"/>
          <p:cNvSpPr txBox="1"/>
          <p:nvPr/>
        </p:nvSpPr>
        <p:spPr>
          <a:xfrm>
            <a:off x="4081701" y="3743325"/>
            <a:ext cx="4028599" cy="304800"/>
          </a:xfrm>
          <a:prstGeom prst="rect">
            <a:avLst/>
          </a:prstGeom>
          <a:noFill/>
          <a:ln>
            <a:noFill/>
          </a:ln>
        </p:spPr>
        <p:txBody>
          <a:bodyPr wrap="none" lIns="0" tIns="0" rIns="0" bIns="0" anchor="t" anchorCtr="0">
            <a:spAutoFit/>
          </a:bodyPr>
          <a:lstStyle/>
          <a:p>
            <a:pPr algn="ctr"/>
            <a:r>
              <a:rPr lang="zh-CN" sz="1500" b="1" dirty="0">
                <a:solidFill>
                  <a:srgbClr val="F59E0B"/>
                </a:solidFill>
                <a:latin typeface="Arial"/>
                <a:ea typeface="Microsoft YaHei"/>
                <a:cs typeface="Arial"/>
              </a:rPr>
              <a:t>期待把破冰协议交到第一个使用权买家手里</a:t>
            </a:r>
          </a:p>
        </p:txBody>
      </p:sp>
      <p:sp>
        <p:nvSpPr>
          <p:cNvPr id="9" name="TextBox 9"/>
          <p:cNvSpPr txBox="1"/>
          <p:nvPr/>
        </p:nvSpPr>
        <p:spPr>
          <a:xfrm>
            <a:off x="4818697" y="4235768"/>
            <a:ext cx="2554605" cy="274320"/>
          </a:xfrm>
          <a:prstGeom prst="rect">
            <a:avLst/>
          </a:prstGeom>
          <a:noFill/>
          <a:ln>
            <a:noFill/>
          </a:ln>
        </p:spPr>
        <p:txBody>
          <a:bodyPr wrap="none" lIns="0" tIns="0" rIns="0" bIns="0" anchor="t" anchorCtr="0">
            <a:spAutoFit/>
          </a:bodyPr>
          <a:lstStyle/>
          <a:p>
            <a:pPr algn="ctr"/>
            <a:r>
              <a:rPr lang="zh-CN" sz="1350" dirty="0">
                <a:solidFill>
                  <a:srgbClr val="E2E8F0"/>
                </a:solidFill>
                <a:latin typeface="Arial"/>
                <a:ea typeface="Microsoft YaHei"/>
                <a:cs typeface="Arial"/>
              </a:rPr>
              <a:t>破冰协议 Icebreaker Protocol</a:t>
            </a:r>
          </a:p>
        </p:txBody>
      </p:sp>
      <p:sp>
        <p:nvSpPr>
          <p:cNvPr id="10" name="TextBox 10"/>
          <p:cNvSpPr txBox="1"/>
          <p:nvPr/>
        </p:nvSpPr>
        <p:spPr>
          <a:xfrm>
            <a:off x="4640580" y="4585335"/>
            <a:ext cx="2910840" cy="243840"/>
          </a:xfrm>
          <a:prstGeom prst="rect">
            <a:avLst/>
          </a:prstGeom>
          <a:noFill/>
          <a:ln>
            <a:noFill/>
          </a:ln>
        </p:spPr>
        <p:txBody>
          <a:bodyPr wrap="none" lIns="0" tIns="0" rIns="0" bIns="0" anchor="t" anchorCtr="0">
            <a:spAutoFit/>
          </a:bodyPr>
          <a:lstStyle/>
          <a:p>
            <a:pPr algn="ctr"/>
            <a:r>
              <a:rPr lang="zh-CN" sz="1200" dirty="0">
                <a:solidFill>
                  <a:srgbClr val="64748B"/>
                </a:solidFill>
                <a:latin typeface="Arial"/>
                <a:ea typeface="Microsoft YaHei"/>
                <a:cs typeface="Arial"/>
              </a:rPr>
              <a:t>GitHub: qrx-joe/icebreaker-protocol</a:t>
            </a:r>
          </a:p>
        </p:txBody>
      </p:sp>
      <p:sp>
        <p:nvSpPr>
          <p:cNvPr id="11" name="TextBox 11"/>
          <p:cNvSpPr txBox="1"/>
          <p:nvPr/>
        </p:nvSpPr>
        <p:spPr>
          <a:xfrm>
            <a:off x="4900803" y="5172075"/>
            <a:ext cx="2390394" cy="304800"/>
          </a:xfrm>
          <a:prstGeom prst="rect">
            <a:avLst/>
          </a:prstGeom>
          <a:noFill/>
          <a:ln>
            <a:noFill/>
          </a:ln>
        </p:spPr>
        <p:txBody>
          <a:bodyPr wrap="none" lIns="0" tIns="0" rIns="0" bIns="0" anchor="t" anchorCtr="0">
            <a:spAutoFit/>
          </a:bodyPr>
          <a:lstStyle/>
          <a:p>
            <a:pPr algn="ctr"/>
            <a:r>
              <a:rPr lang="zh-CN" sz="1500" b="1" dirty="0">
                <a:solidFill>
                  <a:srgbClr val="F59E0B"/>
                </a:solidFill>
                <a:latin typeface="Arial"/>
                <a:ea typeface="Microsoft YaHei"/>
                <a:cs typeface="Arial"/>
              </a:rPr>
              <a:t>把"想太多"变成"做出来"</a:t>
            </a:r>
          </a:p>
        </p:txBody>
      </p:sp>
      <p:sp>
        <p:nvSpPr>
          <p:cNvPr id="12" name="Rectangle 12"/>
          <p:cNvSpPr/>
          <p:nvPr/>
        </p:nvSpPr>
        <p:spPr>
          <a:xfrm>
            <a:off x="571500" y="571500"/>
            <a:ext cx="381000" cy="19050"/>
          </a:xfrm>
          <a:prstGeom prst="rect">
            <a:avLst/>
          </a:prstGeom>
          <a:solidFill>
            <a:srgbClr val="3B82F6">
              <a:alpha val="50000"/>
            </a:srgbClr>
          </a:solidFill>
          <a:ln>
            <a:noFill/>
          </a:ln>
        </p:spPr>
      </p:sp>
      <p:sp>
        <p:nvSpPr>
          <p:cNvPr id="13" name="Rectangle 13"/>
          <p:cNvSpPr/>
          <p:nvPr/>
        </p:nvSpPr>
        <p:spPr>
          <a:xfrm>
            <a:off x="571500" y="571500"/>
            <a:ext cx="19050" cy="381000"/>
          </a:xfrm>
          <a:prstGeom prst="rect">
            <a:avLst/>
          </a:prstGeom>
          <a:solidFill>
            <a:srgbClr val="3B82F6">
              <a:alpha val="50000"/>
            </a:srgbClr>
          </a:solidFill>
          <a:ln>
            <a:noFill/>
          </a:ln>
        </p:spPr>
      </p:sp>
      <p:sp>
        <p:nvSpPr>
          <p:cNvPr id="14" name="Rectangle 14"/>
          <p:cNvSpPr/>
          <p:nvPr/>
        </p:nvSpPr>
        <p:spPr>
          <a:xfrm>
            <a:off x="11239500" y="571500"/>
            <a:ext cx="381000" cy="19050"/>
          </a:xfrm>
          <a:prstGeom prst="rect">
            <a:avLst/>
          </a:prstGeom>
          <a:solidFill>
            <a:srgbClr val="3B82F6">
              <a:alpha val="50000"/>
            </a:srgbClr>
          </a:solidFill>
          <a:ln>
            <a:noFill/>
          </a:ln>
        </p:spPr>
      </p:sp>
      <p:sp>
        <p:nvSpPr>
          <p:cNvPr id="15" name="Rectangle 15"/>
          <p:cNvSpPr/>
          <p:nvPr/>
        </p:nvSpPr>
        <p:spPr>
          <a:xfrm>
            <a:off x="11601450" y="571500"/>
            <a:ext cx="19050" cy="381000"/>
          </a:xfrm>
          <a:prstGeom prst="rect">
            <a:avLst/>
          </a:prstGeom>
          <a:solidFill>
            <a:srgbClr val="3B82F6">
              <a:alpha val="50000"/>
            </a:srgbClr>
          </a:solidFill>
          <a:ln>
            <a:noFill/>
          </a:ln>
        </p:spPr>
      </p:sp>
      <p:sp>
        <p:nvSpPr>
          <p:cNvPr id="16" name="Rectangle 16"/>
          <p:cNvSpPr/>
          <p:nvPr/>
        </p:nvSpPr>
        <p:spPr>
          <a:xfrm>
            <a:off x="571500" y="6267450"/>
            <a:ext cx="381000" cy="19050"/>
          </a:xfrm>
          <a:prstGeom prst="rect">
            <a:avLst/>
          </a:prstGeom>
          <a:solidFill>
            <a:srgbClr val="3B82F6">
              <a:alpha val="50000"/>
            </a:srgbClr>
          </a:solidFill>
          <a:ln>
            <a:noFill/>
          </a:ln>
        </p:spPr>
      </p:sp>
      <p:sp>
        <p:nvSpPr>
          <p:cNvPr id="17" name="Rectangle 17"/>
          <p:cNvSpPr/>
          <p:nvPr/>
        </p:nvSpPr>
        <p:spPr>
          <a:xfrm>
            <a:off x="571500" y="5905500"/>
            <a:ext cx="19050" cy="381000"/>
          </a:xfrm>
          <a:prstGeom prst="rect">
            <a:avLst/>
          </a:prstGeom>
          <a:solidFill>
            <a:srgbClr val="3B82F6">
              <a:alpha val="50000"/>
            </a:srgbClr>
          </a:solidFill>
          <a:ln>
            <a:noFill/>
          </a:ln>
        </p:spPr>
      </p:sp>
      <p:sp>
        <p:nvSpPr>
          <p:cNvPr id="18" name="Rectangle 18"/>
          <p:cNvSpPr/>
          <p:nvPr/>
        </p:nvSpPr>
        <p:spPr>
          <a:xfrm>
            <a:off x="11239500" y="6267450"/>
            <a:ext cx="381000" cy="19050"/>
          </a:xfrm>
          <a:prstGeom prst="rect">
            <a:avLst/>
          </a:prstGeom>
          <a:solidFill>
            <a:srgbClr val="3B82F6">
              <a:alpha val="50000"/>
            </a:srgbClr>
          </a:solidFill>
          <a:ln>
            <a:noFill/>
          </a:ln>
        </p:spPr>
      </p:sp>
      <p:sp>
        <p:nvSpPr>
          <p:cNvPr id="19" name="Rectangle 19"/>
          <p:cNvSpPr/>
          <p:nvPr/>
        </p:nvSpPr>
        <p:spPr>
          <a:xfrm>
            <a:off x="11601450" y="5905500"/>
            <a:ext cx="19050" cy="381000"/>
          </a:xfrm>
          <a:prstGeom prst="rect">
            <a:avLst/>
          </a:prstGeom>
          <a:solidFill>
            <a:srgbClr val="3B82F6">
              <a:alpha val="50000"/>
            </a:srgbClr>
          </a:solidFill>
          <a:ln>
            <a:noFill/>
          </a:ln>
        </p:spPr>
      </p:sp>
      <p:sp>
        <p:nvSpPr>
          <p:cNvPr id="20" name="TextBox 20"/>
          <p:cNvSpPr txBox="1"/>
          <p:nvPr/>
        </p:nvSpPr>
        <p:spPr>
          <a:xfrm>
            <a:off x="11016520" y="6570345"/>
            <a:ext cx="424910" cy="182880"/>
          </a:xfrm>
          <a:prstGeom prst="rect">
            <a:avLst/>
          </a:prstGeom>
          <a:noFill/>
          <a:ln>
            <a:noFill/>
          </a:ln>
        </p:spPr>
        <p:txBody>
          <a:bodyPr wrap="none" lIns="0" tIns="0" rIns="0" bIns="0" anchor="t" anchorCtr="0">
            <a:spAutoFit/>
          </a:bodyPr>
          <a:lstStyle/>
          <a:p>
            <a:pPr algn="r"/>
            <a:r>
              <a:rPr lang="zh-CN" sz="900" dirty="0">
                <a:solidFill>
                  <a:srgbClr val="64748B"/>
                </a:solidFill>
                <a:latin typeface="Arial"/>
                <a:ea typeface="Microsoft YaHei"/>
                <a:cs typeface="Arial"/>
              </a:rPr>
              <a:t>09 / 09</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
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大家好，我是破冰协议的创始人。今天我要介绍的不是又一个时间管理工具，而是一个解决更隐蔽痛点的产品——面向完美主义者的AI任务启动协议。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你有没有过这种状态？脑子里已经推演了一百遍，但手上一个字没写。不是懒，是启动阈值太高了。传统效率工具误解了这个问题，以为是时间管理或专注力管理。但完美主义者真正缺的是从心理安全区跨到可见产出的那一下。我们的目标用户包括完美主义者、创作者、独立开发者、求职者和高敏感知识工作者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破冰协议的核心洞察是：不改变你的标准，只先制造一个能被标准加工的对象。通过六步强制工作流——启动契约、任务拆解、限时执行、上下文协助、改进循环和产出评价——把用户从准备阶段推进到手里已经有一个可以改的雏形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目前有三种产品形态。Agent Skill直接嵌入Claude Code和Codex工作流，零部署成本。Web Demo展示完整协议流程。CLI工具支持开发者在本地工作流中使用。两个最亮的功能是三阶段计时器——强制降低启动标准；以及产出质量评价——诚实回答到底能不能发布。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买到使用权后，你可以嵌入现有工作流，零部署即插即用。可以按场景定制模板，协议强度、时间偏好、产出模式均可调整。获得完整协议执行结构，可独立品牌运营，开源MIT可二次开发。技术支持包括FastAPI加Vite全栈、PWA离线支持、多模态交互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核心商业化场景。高校课程和黑客松：把学生从想法推到可展示作品。求职训练营：简历、作品集、面试项目启动。企业创新营：内部idea到原型。创作者社群：选题、初稿、脚本启动。每个场景都有清晰的变现路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买一个prompt只能复制语气和风格，但买不到执行结构。破冰协议的核心壁垒是完整的六步闭环：什么时候逼用户开始、什么时候降低粒度、什么时候允许改、什么时候阻止继续改。这个结构比单句提示词更有复用价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交付能力方面，Web Demo已上线，Agent Skill已发布，CLI工具已可用。买方获得完整代码、部署方案、培训支持和持续迭代。创始人独立完成全栈开发，买完就能落地，不需要等团队组建。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以上就是破冰协议的介绍。我们不治愈完美主义，我们只逼你交出第一版。谢谢大家，欢迎提问。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286000" y="762000"/>
            <a:ext cx="7620000" cy="3810000"/>
          </a:xfrm>
          <a:prstGeom prst="roundRect">
            <a:avLst>
              <a:gd name="adj" fmla="val 50000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4191000" y="1714500"/>
            <a:ext cx="3810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559141" y="2290762"/>
            <a:ext cx="3073718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破冰协议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08994" y="3139440"/>
            <a:ext cx="237401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Icebreaker Protocol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75333" y="3822382"/>
            <a:ext cx="344133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面向完美主义者的 AI 任务启动协议</a:t>
            </a:r>
          </a:p>
        </p:txBody>
      </p:sp>
      <p:sp>
        <p:nvSpPr>
          <p:cNvPr id="8" name="Rectangle 8"/>
          <p:cNvSpPr/>
          <p:nvPr/>
        </p:nvSpPr>
        <p:spPr>
          <a:xfrm>
            <a:off x="4667250" y="4381500"/>
            <a:ext cx="285750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900803" y="4600575"/>
            <a:ext cx="239039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把"想太多"变成"做出来"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49071" y="5784056"/>
            <a:ext cx="22938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Agent Skill | Web Demo | CLI 工具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571500"/>
            <a:ext cx="381000" cy="1905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571500"/>
            <a:ext cx="19050" cy="38100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11239500" y="571500"/>
            <a:ext cx="381000" cy="1905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1601450" y="571500"/>
            <a:ext cx="19050" cy="38100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571500" y="6267450"/>
            <a:ext cx="381000" cy="1905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5905500"/>
            <a:ext cx="19050" cy="38100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11239500" y="6267450"/>
            <a:ext cx="381000" cy="1905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1601450" y="5905500"/>
            <a:ext cx="19050" cy="38100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32410"/>
            <a:ext cx="309295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完美主义者的困境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47700"/>
            <a:ext cx="2667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4572000" cy="19050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36295" y="1298258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核心问题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0105" y="1711642"/>
            <a:ext cx="1654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脑子里推演了一百遍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0105" y="1997392"/>
            <a:ext cx="12944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手上一个字没写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962" y="2402681"/>
            <a:ext cx="1678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不是懒，是启动阈值太高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429250" y="1047750"/>
            <a:ext cx="6191250" cy="1333500"/>
          </a:xfrm>
          <a:prstGeom prst="roundRect">
            <a:avLst>
              <a:gd name="adj" fmla="val 8571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697855" y="128301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传统工具误解了问题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99760" y="1632585"/>
            <a:ext cx="24627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以为是"时间管理"或"专注力管理"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99760" y="1870710"/>
            <a:ext cx="37109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实则需要的是：从心理安全区跨到可见产出的那一下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429250" y="2571750"/>
            <a:ext cx="6191250" cy="3333750"/>
          </a:xfrm>
          <a:prstGeom prst="roundRect">
            <a:avLst>
              <a:gd name="adj" fmla="val 3429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695950" y="279082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目标用户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99760" y="3251835"/>
            <a:ext cx="32068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完美主义者：不缺标准，缺可修改的第一版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99760" y="3556635"/>
            <a:ext cx="32068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创作者：选题、开头、初稿最容易陷入空转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99760" y="3861435"/>
            <a:ext cx="30468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独立开发者：技术选型、架构前反复打转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99760" y="4166235"/>
            <a:ext cx="25667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求职者：简历反复想改但迟迟不发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99760" y="4471035"/>
            <a:ext cx="27268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高敏感知识工作者：害怕暴露半成品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165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02 / 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32410"/>
            <a:ext cx="390576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协议机制 — 为什么有效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47700"/>
            <a:ext cx="4000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822960"/>
            <a:ext cx="37109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不改变你的标准，只先制造一个能被标准加工的对象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238250"/>
            <a:ext cx="3429000" cy="1428750"/>
          </a:xfrm>
          <a:prstGeom prst="roundRect">
            <a:avLst>
              <a:gd name="adj" fmla="val 8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57150" cy="14287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92480" y="1425892"/>
            <a:ext cx="194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3480" y="14258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启动契约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5338" y="1783556"/>
            <a:ext cx="10937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把"做好"改写成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5338" y="2021681"/>
            <a:ext cx="1243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"先做出可改对象"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81500" y="1238250"/>
            <a:ext cx="3429000" cy="1428750"/>
          </a:xfrm>
          <a:prstGeom prst="roundRect">
            <a:avLst>
              <a:gd name="adj" fmla="val 8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81500" y="1238250"/>
            <a:ext cx="57150" cy="14287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602480" y="1425892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83480" y="14258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任务拆解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05338" y="1783556"/>
            <a:ext cx="11762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3-6个可见产出块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05338" y="2021681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每步有明确交付物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91500" y="1238250"/>
            <a:ext cx="3429000" cy="1428750"/>
          </a:xfrm>
          <a:prstGeom prst="roundRect">
            <a:avLst>
              <a:gd name="adj" fmla="val 8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8191500" y="1238250"/>
            <a:ext cx="57150" cy="1428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412480" y="1425892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93480" y="14258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限时执行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15338" y="1783556"/>
            <a:ext cx="8836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每步1-15分钟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15338" y="2021681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降低无限准备空间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2952750"/>
            <a:ext cx="3429000" cy="1428750"/>
          </a:xfrm>
          <a:prstGeom prst="roundRect">
            <a:avLst>
              <a:gd name="adj" fmla="val 8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71500" y="2952750"/>
            <a:ext cx="57150" cy="14287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92480" y="3140392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73480" y="3140392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上下文协助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5338" y="3498056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卡住时直接给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5338" y="3736181"/>
            <a:ext cx="1528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可复制、可修改的内容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381500" y="2952750"/>
            <a:ext cx="3429000" cy="1428750"/>
          </a:xfrm>
          <a:prstGeom prst="roundRect">
            <a:avLst>
              <a:gd name="adj" fmla="val 8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4381500" y="2952750"/>
            <a:ext cx="57150" cy="14287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602480" y="3140392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83480" y="31403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改进循环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05338" y="3498056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完成后只改一处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605338" y="3736181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防止优化变拖延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191500" y="2952750"/>
            <a:ext cx="3429000" cy="1428750"/>
          </a:xfrm>
          <a:prstGeom prst="roundRect">
            <a:avLst>
              <a:gd name="adj" fmla="val 8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191500" y="2952750"/>
            <a:ext cx="57150" cy="1428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412480" y="3140392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793480" y="31403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产出评价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15338" y="3498056"/>
            <a:ext cx="10111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5维度质量报告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15338" y="3736181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诚实回答能否发布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4667250"/>
            <a:ext cx="11049000" cy="762000"/>
          </a:xfrm>
          <a:prstGeom prst="roundRect">
            <a:avLst>
              <a:gd name="adj" fmla="val 15000"/>
            </a:avLst>
          </a:prstGeom>
          <a:solidFill>
            <a:srgbClr val="151B2D"/>
          </a:solidFill>
          <a:ln w="9525">
            <a:solidFill>
              <a:srgbClr val="3B82F6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838200" y="4933950"/>
            <a:ext cx="61288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核心承诺：不改变你的标准，只先制造一个能被标准加工的对象。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0165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03 / 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32410"/>
            <a:ext cx="428380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产品演示 — 证明真的能用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47700"/>
            <a:ext cx="3619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3333750" cy="2286000"/>
          </a:xfrm>
          <a:prstGeom prst="roundRect">
            <a:avLst>
              <a:gd name="adj" fmla="val 5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047750"/>
            <a:ext cx="333375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36295" y="1298258"/>
            <a:ext cx="120860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Agent Skill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2010" y="1727835"/>
            <a:ext cx="1910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嵌入 Claude Code / Codex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010" y="2013585"/>
            <a:ext cx="8305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零部署成本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2010" y="2299335"/>
            <a:ext cx="8305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低成本分发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3915" y="2839402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直接嵌入工作流，无需安装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191000" y="1047750"/>
            <a:ext cx="3333750" cy="2286000"/>
          </a:xfrm>
          <a:prstGeom prst="roundRect">
            <a:avLst>
              <a:gd name="adj" fmla="val 5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191000" y="1047750"/>
            <a:ext cx="333375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455795" y="1298258"/>
            <a:ext cx="109309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Web Demo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61510" y="1727835"/>
            <a:ext cx="1310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完整协议流程体验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61510" y="2013585"/>
            <a:ext cx="15186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契约 → 路线图 → 计时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61510" y="2299335"/>
            <a:ext cx="13586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附件 + 语音 + 帮助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63415" y="2839402"/>
            <a:ext cx="20219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导出 Markdown，PWA 离线可用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810500" y="1047750"/>
            <a:ext cx="3333750" cy="2286000"/>
          </a:xfrm>
          <a:prstGeom prst="roundRect">
            <a:avLst>
              <a:gd name="adj" fmla="val 5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7810500" y="1047750"/>
            <a:ext cx="333375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075295" y="1298258"/>
            <a:ext cx="8967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CLI 工具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81010" y="1727835"/>
            <a:ext cx="17106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timer.py — 本地倒计时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81010" y="2013585"/>
            <a:ext cx="16386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review.py — 产出评价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81010" y="2299335"/>
            <a:ext cx="16786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Vercel serverless API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82915" y="283940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开发者工作流，轻量部署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3619500"/>
            <a:ext cx="10572750" cy="1333500"/>
          </a:xfrm>
          <a:prstGeom prst="roundRect">
            <a:avLst>
              <a:gd name="adj" fmla="val 8571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42010" y="3823335"/>
            <a:ext cx="12066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两个最亮的功能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57250" y="4143375"/>
            <a:ext cx="4762500" cy="571500"/>
          </a:xfrm>
          <a:prstGeom prst="roundRect">
            <a:avLst>
              <a:gd name="adj" fmla="val 13333"/>
            </a:avLst>
          </a:prstGeom>
          <a:solidFill>
            <a:srgbClr val="0A0E1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33462" y="42600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三阶段计时器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5368" y="4466749"/>
            <a:ext cx="25080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乱写期→修整期→紧急期，强制降低启动标准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905500" y="4143375"/>
            <a:ext cx="4762500" cy="571500"/>
          </a:xfrm>
          <a:prstGeom prst="roundRect">
            <a:avLst>
              <a:gd name="adj" fmla="val 13333"/>
            </a:avLst>
          </a:prstGeom>
          <a:solidFill>
            <a:srgbClr val="0A0E1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081712" y="42600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产出质量评价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083618" y="4466749"/>
            <a:ext cx="23195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5维度报告，诚实回答"到底能不能发布"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0165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04 / 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32410"/>
            <a:ext cx="50399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使用权价值 — 买方拿去怎么用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47700"/>
            <a:ext cx="4572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191125" cy="2381250"/>
          </a:xfrm>
          <a:prstGeom prst="roundRect">
            <a:avLst>
              <a:gd name="adj" fmla="val 48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047750"/>
            <a:ext cx="57150" cy="23812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38200" y="1266825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嵌入现有工作流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2010" y="1680210"/>
            <a:ext cx="32468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Agent Skill 可直接嵌入 Claude Code / Codex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962" y="1974056"/>
            <a:ext cx="1528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零部署成本，即插即用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2962" y="2259806"/>
            <a:ext cx="1678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可作为平台内置功能模块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2962" y="2640806"/>
            <a:ext cx="20313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Web Demo 可独立部署为 SaaS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48375" y="1047750"/>
            <a:ext cx="5191125" cy="2381250"/>
          </a:xfrm>
          <a:prstGeom prst="roundRect">
            <a:avLst>
              <a:gd name="adj" fmla="val 48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6048375" y="1047750"/>
            <a:ext cx="57150" cy="2381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315075" y="1266825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按场景定制模板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18885" y="1680210"/>
            <a:ext cx="21107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求职、创作、编程、产品方案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19838" y="19740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可按买方需求定制拆解模板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19838" y="2259806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协议强度、时间偏好、产出模式可调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19838" y="2640806"/>
            <a:ext cx="19338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CLI 工具支持本地工作流集成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3714750"/>
            <a:ext cx="5191125" cy="2381250"/>
          </a:xfrm>
          <a:prstGeom prst="roundRect">
            <a:avLst>
              <a:gd name="adj" fmla="val 48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71500" y="3714750"/>
            <a:ext cx="57150" cy="2381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38200" y="393382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数据与品牌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2010" y="4347210"/>
            <a:ext cx="1630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获得完整协议执行结构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2962" y="4641056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可独立品牌运营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2962" y="4926806"/>
            <a:ext cx="1678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产出质量评价数据可沉淀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962" y="5212556"/>
            <a:ext cx="15137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开源 MIT，可二次开发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48375" y="3714750"/>
            <a:ext cx="5191125" cy="2381250"/>
          </a:xfrm>
          <a:prstGeom prst="roundRect">
            <a:avLst>
              <a:gd name="adj" fmla="val 48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048375" y="3714750"/>
            <a:ext cx="57150" cy="2381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315075" y="393382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技术支持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18885" y="4347210"/>
            <a:ext cx="17907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FastAPI + Vite 全栈交付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319838" y="4641056"/>
            <a:ext cx="15512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PWA 支持，可离线使用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319838" y="4926806"/>
            <a:ext cx="17087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Vercel + 本地双模式部署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319838" y="52125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多模态：文本、语音、附件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0165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05 / 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32410"/>
            <a:ext cx="466185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商业化场景 — 买方怎么变现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47700"/>
            <a:ext cx="4572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191125" cy="2381250"/>
          </a:xfrm>
          <a:prstGeom prst="roundRect">
            <a:avLst>
              <a:gd name="adj" fmla="val 48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047750"/>
            <a:ext cx="57150" cy="23812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38200" y="1266825"/>
            <a:ext cx="17498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高校课程 / 黑客松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2010" y="1680210"/>
            <a:ext cx="21107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把学生从想法推到可展示作品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962" y="1974056"/>
            <a:ext cx="21438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课程作业不再停留在"想"的阶段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2962" y="2259806"/>
            <a:ext cx="21438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黑客松48小时产出完整原型方案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2962" y="2545556"/>
            <a:ext cx="1978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可作为课程平台内置工具收费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3915" y="2934652"/>
            <a:ext cx="17838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变现：按学生数/课程数订阅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48375" y="1047750"/>
            <a:ext cx="5191125" cy="2381250"/>
          </a:xfrm>
          <a:prstGeom prst="roundRect">
            <a:avLst>
              <a:gd name="adj" fmla="val 48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048375" y="1047750"/>
            <a:ext cx="57150" cy="2381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315075" y="126682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求职训练营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18885" y="1680210"/>
            <a:ext cx="21107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简历、作品集、面试项目启动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19838" y="1974056"/>
            <a:ext cx="24438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解决"简历写了三个月还没发"的痛点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19838" y="2259806"/>
            <a:ext cx="23613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作品集从0到可投递版本，限时完成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19838" y="2545556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面试项目实战，不再停留在准备阶段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20790" y="2934652"/>
            <a:ext cx="20639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变现：按训练营期数/学员数收费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3714750"/>
            <a:ext cx="5191125" cy="2381250"/>
          </a:xfrm>
          <a:prstGeom prst="roundRect">
            <a:avLst>
              <a:gd name="adj" fmla="val 48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571500" y="3714750"/>
            <a:ext cx="57150" cy="2381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38200" y="393382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企业创新营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2010" y="4347210"/>
            <a:ext cx="12386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内部 idea 到原型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962" y="4641056"/>
            <a:ext cx="1926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员工创新提案不再停留在PPT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2962" y="492680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半天工作坊产出可演示原型方案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2962" y="5212556"/>
            <a:ext cx="22788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降低内部创新从想法到落地的门槛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3915" y="5601652"/>
            <a:ext cx="17838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变现：按企业/期数授权收费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048375" y="3714750"/>
            <a:ext cx="5191125" cy="2381250"/>
          </a:xfrm>
          <a:prstGeom prst="roundRect">
            <a:avLst>
              <a:gd name="adj" fmla="val 48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048375" y="3714750"/>
            <a:ext cx="57150" cy="2381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315075" y="393382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创作者社群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318885" y="4347210"/>
            <a:ext cx="1630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选题、初稿、脚本启动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319838" y="4641056"/>
            <a:ext cx="28564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解决创作者"选题想了两个月"的 paralysis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319838" y="492680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脚本、大纲、初稿限时产出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19838" y="5212556"/>
            <a:ext cx="23013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社群打卡 + 产出评价形成正向循环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320790" y="5601652"/>
            <a:ext cx="19239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变现：按社群会员数/期数订阅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165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06 / 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32410"/>
            <a:ext cx="647648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竞争优势 — 为什么买你不是买 prompt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47700"/>
            <a:ext cx="5334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5524500" cy="2667000"/>
          </a:xfrm>
          <a:prstGeom prst="roundRect">
            <a:avLst>
              <a:gd name="adj" fmla="val 4286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38200" y="1266825"/>
            <a:ext cx="25794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买一个 prompt 能复制的：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2010" y="1680210"/>
            <a:ext cx="14466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• 语气、风格、话术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2010" y="1965960"/>
            <a:ext cx="16066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• 单轮对话的拆解逻辑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010" y="2251710"/>
            <a:ext cx="12866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• 静态的文本模板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2010" y="2537460"/>
            <a:ext cx="17666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• 需要用户自己组织执行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2962" y="3021806"/>
            <a:ext cx="27289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结论：prompt 只是"知道"，不是"做到"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381750" y="1047750"/>
            <a:ext cx="5238750" cy="2667000"/>
          </a:xfrm>
          <a:prstGeom prst="roundRect">
            <a:avLst>
              <a:gd name="adj" fmla="val 4286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6381750" y="1047750"/>
            <a:ext cx="57150" cy="2667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648450" y="1266825"/>
            <a:ext cx="25584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买破冰协议使用权获得的：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2260" y="1680210"/>
            <a:ext cx="20147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✅ 完整执行结构（6步闭环）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52260" y="1965960"/>
            <a:ext cx="22467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✅ 三阶段计时器（前端已实现）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52260" y="2251710"/>
            <a:ext cx="21027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✅ 停滞自动介入（60秒触发）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52260" y="2537460"/>
            <a:ext cx="21747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✅ 产出质量评价（5维度报告）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52260" y="2823210"/>
            <a:ext cx="1630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✅ 附件解析 + 语音输入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52260" y="3108960"/>
            <a:ext cx="18227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✅ PWA + Vercel 部署方案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4000500"/>
            <a:ext cx="11049000" cy="19050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9525">
            <a:solidFill>
              <a:srgbClr val="3B82F6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38200" y="4267200"/>
            <a:ext cx="25584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核心壁垒：执行结构的沉淀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2010" y="4680585"/>
            <a:ext cx="26228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不是"一个 prompt 怎么写"，而是：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2010" y="4966335"/>
            <a:ext cx="16066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什么时候逼用户开始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010" y="5252085"/>
            <a:ext cx="14466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什么时候降低粒度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2010" y="5537835"/>
            <a:ext cx="28868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• 什么时候允许改、什么时候阻止继续改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50355" y="5235892"/>
            <a:ext cx="30586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这个结构比单句提示词更有复用价值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165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07 / 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32410"/>
            <a:ext cx="466185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交付能力 — 买完能不能落地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647700"/>
            <a:ext cx="4572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3429000" cy="19050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047750"/>
            <a:ext cx="3429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40105" y="1283018"/>
            <a:ext cx="13291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B82F6"/>
                </a:solidFill>
                <a:latin typeface="Arial"/>
                <a:ea typeface="Microsoft YaHei"/>
                <a:cs typeface="Arial"/>
              </a:rPr>
              <a:t>已有 Web Demo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2962" y="1640681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完整协议流程已跑通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962" y="1926431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可独立部署或嵌入现有平台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2962" y="2212181"/>
            <a:ext cx="14012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PWA 支持，离线可用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3915" y="255365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状态：已上线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86250" y="1047750"/>
            <a:ext cx="3429000" cy="19050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286250" y="1047750"/>
            <a:ext cx="3429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554855" y="1283018"/>
            <a:ext cx="14236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已有 Agent Skill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57712" y="1640681"/>
            <a:ext cx="22413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可直接嵌入 Claude Code / Codex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57712" y="1926431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零部署，即插即用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57712" y="2212181"/>
            <a:ext cx="1678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可作为平台内置模块分发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58665" y="255365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状态：已发布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001000" y="1047750"/>
            <a:ext cx="3619500" cy="19050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8001000" y="1047750"/>
            <a:ext cx="36195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269605" y="12830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已有 CLI 工具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72462" y="1640681"/>
            <a:ext cx="15887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timer.py + review.py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72462" y="1926431"/>
            <a:ext cx="1528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支持开发者本地工作流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72462" y="2212181"/>
            <a:ext cx="20688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Vercel serverless API 已配置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73415" y="255365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状态：已可用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3238500"/>
            <a:ext cx="11049000" cy="2667000"/>
          </a:xfrm>
          <a:prstGeom prst="roundRect">
            <a:avLst>
              <a:gd name="adj" fmla="val 4286"/>
            </a:avLst>
          </a:prstGeom>
          <a:solidFill>
            <a:srgbClr val="151B2D"/>
          </a:solidFill>
          <a:ln w="9525">
            <a:solidFill>
              <a:srgbClr val="1E293B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38200" y="3457575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买方买到的交付物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57250" y="3905250"/>
            <a:ext cx="2381250" cy="762000"/>
          </a:xfrm>
          <a:prstGeom prst="roundRect">
            <a:avLst>
              <a:gd name="adj" fmla="val 10000"/>
            </a:avLst>
          </a:prstGeom>
          <a:solidFill>
            <a:srgbClr val="0A0E1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33462" y="40695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完整代码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5368" y="4323874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FastAPI + Vite 全栈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5368" y="4485799"/>
            <a:ext cx="13119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开源 MIT，可二次开发</a:t>
            </a:r>
          </a:p>
        </p:txBody>
      </p:sp>
      <p:sp>
        <p:nvSpPr>
          <p:cNvPr id="33" name="Rectangle 33"/>
          <p:cNvSpPr/>
          <p:nvPr/>
        </p:nvSpPr>
        <p:spPr>
          <a:xfrm>
            <a:off x="3429000" y="3905250"/>
            <a:ext cx="2381250" cy="762000"/>
          </a:xfrm>
          <a:prstGeom prst="roundRect">
            <a:avLst>
              <a:gd name="adj" fmla="val 10000"/>
            </a:avLst>
          </a:prstGeom>
          <a:solidFill>
            <a:srgbClr val="0A0E1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3605212" y="40695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部署方案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607118" y="4323874"/>
            <a:ext cx="980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Vercel 一键部署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607118" y="4485799"/>
            <a:ext cx="10518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本地 Docker 部署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000750" y="3905250"/>
            <a:ext cx="2381250" cy="762000"/>
          </a:xfrm>
          <a:prstGeom prst="roundRect">
            <a:avLst>
              <a:gd name="adj" fmla="val 10000"/>
            </a:avLst>
          </a:prstGeom>
          <a:solidFill>
            <a:srgbClr val="0A0E1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176962" y="40695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培训支持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178868" y="4323874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按场景定制模板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178868" y="4485799"/>
            <a:ext cx="9543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使用文档 + 培训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572500" y="390525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0A0E1A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748712" y="40695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持续迭代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750618" y="4323874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创始人直接交付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750618" y="448579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可按需求定制功能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57250" y="4857750"/>
            <a:ext cx="10382250" cy="762000"/>
          </a:xfrm>
          <a:prstGeom prst="roundRect">
            <a:avLst>
              <a:gd name="adj" fmla="val 10000"/>
            </a:avLst>
          </a:prstGeom>
          <a:solidFill>
            <a:srgbClr val="0A0E1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032510" y="5061585"/>
            <a:ext cx="40469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创始人 Joe — 独立完成产品设计、前后端开发、协议定义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33462" y="5355431"/>
            <a:ext cx="33289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全栈交付能力，买完就能落地，不需要等团队组建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0165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08 / 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286000" y="762000"/>
            <a:ext cx="7620000" cy="3810000"/>
          </a:xfrm>
          <a:prstGeom prst="roundRect">
            <a:avLst>
              <a:gd name="adj" fmla="val 50000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4191000" y="1714500"/>
            <a:ext cx="3810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78692" y="2181225"/>
            <a:ext cx="2634615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93080" y="304419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欢迎提问</a:t>
            </a:r>
          </a:p>
        </p:txBody>
      </p:sp>
      <p:sp>
        <p:nvSpPr>
          <p:cNvPr id="7" name="Rectangle 7"/>
          <p:cNvSpPr/>
          <p:nvPr/>
        </p:nvSpPr>
        <p:spPr>
          <a:xfrm>
            <a:off x="4667250" y="3619500"/>
            <a:ext cx="285750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818697" y="3950018"/>
            <a:ext cx="25546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破冰协议 Icebreaker Protocol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40580" y="4347210"/>
            <a:ext cx="29108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GitHub: qrx-joe/icebreaker-protocol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00803" y="4981575"/>
            <a:ext cx="239039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把"想太多"变成"做出来"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571500"/>
            <a:ext cx="381000" cy="1905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571500"/>
            <a:ext cx="19050" cy="38100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11239500" y="571500"/>
            <a:ext cx="381000" cy="1905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1601450" y="571500"/>
            <a:ext cx="19050" cy="38100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571500" y="6267450"/>
            <a:ext cx="381000" cy="1905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5905500"/>
            <a:ext cx="19050" cy="38100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11239500" y="6267450"/>
            <a:ext cx="381000" cy="1905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1601450" y="5905500"/>
            <a:ext cx="19050" cy="381000"/>
          </a:xfrm>
          <a:prstGeom prst="rect">
            <a:avLst/>
          </a:prstGeom>
          <a:solidFill>
            <a:srgbClr val="3B82F6">
              <a:alpha val="5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0165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09 / 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